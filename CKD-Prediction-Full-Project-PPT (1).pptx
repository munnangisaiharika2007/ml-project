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charts/chart1.xml" ContentType="application/vnd.openxmlformats-officedocument.drawingml.chart+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Lst>
  <p:notesMasterIdLst>
    <p:notesMasterId r:id="rId23"/>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notesMaster" Target="notesMasters/notesMaster1.xml"/><Relationship Id="rId24" Type="http://schemas.openxmlformats.org/officeDocument/2006/relationships/presProps" Target="presProps.xml"/><Relationship Id="rId25" Type="http://schemas.openxmlformats.org/officeDocument/2006/relationships/viewProps" Target="viewProps.xml"/><Relationship Id="rId26" Type="http://schemas.openxmlformats.org/officeDocument/2006/relationships/theme" Target="theme/theme1.xml"/><Relationship Id="rId27"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000000"/>
                </a:solidFill>
                <a:latin typeface="Arial"/>
              </a:defRPr>
            </a:pPr>
            <a:r>
              <a:rPr sz="1300" b="0" i="0" u="none" strike="noStrike">
                <a:solidFill>
                  <a:srgbClr val="000000"/>
                </a:solidFill>
                <a:latin typeface="Arial"/>
              </a:rPr>
              <a:t>Model comparison (sample placeholders)</a:t>
            </a:r>
          </a:p>
        </c:rich>
      </c:tx>
      <c:layout/>
      <c:overlay val="0"/>
    </c:title>
    <c:autoTitleDeleted val="0"/>
    <c:plotArea>
      <c:layout/>
      <c:barChart>
        <c:barDir val="col"/>
        <c:grouping val="clustered"/>
        <c:varyColors val="0"/>
        <c:ser>
          <c:idx val="0"/>
          <c:order val="0"/>
          <c:tx>
            <c:strRef>
              <c:f>Sheet1!$B$1</c:f>
              <c:strCache>
                <c:ptCount val="1"/>
                <c:pt idx="0">
                  <c:v>XGBoost</c:v>
                </c:pt>
              </c:strCache>
            </c:strRef>
          </c:tx>
          <c:spPr>
            <a:solidFill>
              <a:srgbClr val="0D6B73"/>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Sheet1!$A$2:$A$5</c:f>
              <c:multiLvlStrCache>
                <c:ptCount val="4"/>
                <c:lvl>
                  <c:pt idx="0">
                    <c:v>Accuracy</c:v>
                  </c:pt>
                  <c:pt idx="1">
                    <c:v>Precision</c:v>
                  </c:pt>
                  <c:pt idx="2">
                    <c:v>Recall</c:v>
                  </c:pt>
                  <c:pt idx="3">
                    <c:v>F1-score</c:v>
                  </c:pt>
                </c:lvl>
              </c:multiLvlStrCache>
            </c:multiLvlStrRef>
          </c:cat>
          <c:val>
            <c:numRef>
              <c:f>Sheet1!$B$2:$B$5</c:f>
              <c:numCache>
                <c:formatCode>General</c:formatCode>
                <c:ptCount val="4"/>
                <c:pt idx="0">
                  <c:v>0</c:v>
                </c:pt>
                <c:pt idx="1">
                  <c:v>0</c:v>
                </c:pt>
                <c:pt idx="2">
                  <c:v>0</c:v>
                </c:pt>
                <c:pt idx="3">
                  <c:v>0</c:v>
                </c:pt>
              </c:numCache>
            </c:numRef>
          </c:val>
        </c:ser>
        <c:ser>
          <c:idx val="1"/>
          <c:order val="1"/>
          <c:tx>
            <c:strRef>
              <c:f>Sheet1!$C$1</c:f>
              <c:strCache>
                <c:ptCount val="1"/>
                <c:pt idx="0">
                  <c:v>LightGBM</c:v>
                </c:pt>
              </c:strCache>
            </c:strRef>
          </c:tx>
          <c:spPr>
            <a:solidFill>
              <a:srgbClr val="C2410C"/>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Sheet1!$A$2:$A$5</c:f>
              <c:multiLvlStrCache>
                <c:ptCount val="4"/>
                <c:lvl>
                  <c:pt idx="0">
                    <c:v>Accuracy</c:v>
                  </c:pt>
                  <c:pt idx="1">
                    <c:v>Precision</c:v>
                  </c:pt>
                  <c:pt idx="2">
                    <c:v>Recall</c:v>
                  </c:pt>
                  <c:pt idx="3">
                    <c:v>F1-score</c:v>
                  </c:pt>
                </c:lvl>
              </c:multiLvlStrCache>
            </c:multiLvlStrRef>
          </c:cat>
          <c:val>
            <c:numRef>
              <c:f>Sheet1!$C$2:$C$5</c:f>
              <c:numCache>
                <c:formatCode>General</c:formatCode>
                <c:ptCount val="4"/>
                <c:pt idx="0">
                  <c:v>0</c:v>
                </c:pt>
                <c:pt idx="1">
                  <c:v>0</c:v>
                </c:pt>
                <c:pt idx="2">
                  <c:v>0</c:v>
                </c:pt>
                <c:pt idx="3">
                  <c:v>0</c:v>
                </c:pt>
              </c:numCache>
            </c:numRef>
          </c:val>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1"/>
          <c:min val="0"/>
        </c:scaling>
        <c:delete val="0"/>
        <c:axPos val="l"/>
        <c:majorGridlines>
          <c:spPr>
            <a:ln w="12700" cap="flat">
              <a:solidFill>
                <a:srgbClr val="888888"/>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legend>
      <c:legendPos val="b"/>
      <c:overlay val="0"/>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F2A33"/>
        </a:solidFill>
      </p:bgPr>
    </p:bg>
    <p:spTree>
      <p:nvGrpSpPr>
        <p:cNvPr id="1" name=""/>
        <p:cNvGrpSpPr/>
        <p:nvPr/>
      </p:nvGrpSpPr>
      <p:grpSpPr>
        <a:xfrm>
          <a:off x="0" y="0"/>
          <a:ext cx="0" cy="0"/>
          <a:chOff x="0" y="0"/>
          <a:chExt cx="0" cy="0"/>
        </a:xfrm>
      </p:grpSpPr>
      <p:sp>
        <p:nvSpPr>
          <p:cNvPr id="2" name="Shape 0"/>
          <p:cNvSpPr/>
          <p:nvPr/>
        </p:nvSpPr>
        <p:spPr>
          <a:xfrm>
            <a:off x="6217920" y="-1188720"/>
            <a:ext cx="4389120" cy="4389120"/>
          </a:xfrm>
          <a:prstGeom prst="ellipse">
            <a:avLst/>
          </a:prstGeom>
          <a:solidFill>
            <a:srgbClr val="0D6B73">
              <a:alpha val="65000"/>
            </a:srgbClr>
          </a:solidFill>
          <a:ln w="12700">
            <a:solidFill>
              <a:srgbClr val="0D6B73">
                <a:alpha val="0"/>
              </a:srgbClr>
            </a:solidFill>
            <a:prstDash val="solid"/>
          </a:ln>
        </p:spPr>
      </p:sp>
      <p:sp>
        <p:nvSpPr>
          <p:cNvPr id="3" name="Shape 1"/>
          <p:cNvSpPr/>
          <p:nvPr/>
        </p:nvSpPr>
        <p:spPr>
          <a:xfrm>
            <a:off x="7315200" y="2286000"/>
            <a:ext cx="3017520" cy="3017520"/>
          </a:xfrm>
          <a:prstGeom prst="ellipse">
            <a:avLst/>
          </a:prstGeom>
          <a:solidFill>
            <a:srgbClr val="4FB3BD">
              <a:alpha val="40000"/>
            </a:srgbClr>
          </a:solidFill>
          <a:ln w="12700">
            <a:solidFill>
              <a:srgbClr val="4FB3BD">
                <a:alpha val="0"/>
              </a:srgbClr>
            </a:solidFill>
            <a:prstDash val="solid"/>
          </a:ln>
        </p:spPr>
      </p:sp>
      <p:sp>
        <p:nvSpPr>
          <p:cNvPr id="4" name="Text 2"/>
          <p:cNvSpPr txBox="1"/>
          <p:nvPr/>
        </p:nvSpPr>
        <p:spPr>
          <a:xfrm>
            <a:off x="548640" y="365760"/>
            <a:ext cx="6217920" cy="1463040"/>
          </a:xfrm>
          <a:prstGeom prst="rect">
            <a:avLst/>
          </a:prstGeom>
          <a:noFill/>
          <a:ln/>
        </p:spPr>
        <p:txBody>
          <a:bodyPr wrap="square" lIns="0" tIns="0" rIns="0" bIns="0" rtlCol="0" anchor="t"/>
          <a:lstStyle/>
          <a:p>
            <a:pPr indent="0" marL="0">
              <a:buNone/>
            </a:pPr>
            <a:r>
              <a:rPr lang="en-US" sz="2800" b="1" dirty="0">
                <a:solidFill>
                  <a:srgbClr val="FFFFFF"/>
                </a:solidFill>
                <a:latin typeface="Cambria" pitchFamily="34" charset="0"/>
                <a:ea typeface="Cambria" pitchFamily="34" charset="-122"/>
                <a:cs typeface="Cambria" pitchFamily="34" charset="-120"/>
              </a:rPr>
              <a:t>Chronic Kidney Disease Prediction Using XGBoost and LightGBM Gradient-Boosted Trees</a:t>
            </a:r>
            <a:endParaRPr lang="en-US" sz="2800" dirty="0"/>
          </a:p>
        </p:txBody>
      </p:sp>
      <p:sp>
        <p:nvSpPr>
          <p:cNvPr id="5" name="Text 3"/>
          <p:cNvSpPr txBox="1"/>
          <p:nvPr/>
        </p:nvSpPr>
        <p:spPr>
          <a:xfrm>
            <a:off x="548640" y="1874520"/>
            <a:ext cx="6035040" cy="365760"/>
          </a:xfrm>
          <a:prstGeom prst="rect">
            <a:avLst/>
          </a:prstGeom>
          <a:noFill/>
          <a:ln/>
        </p:spPr>
        <p:txBody>
          <a:bodyPr wrap="square" lIns="0" tIns="0" rIns="0" bIns="0" rtlCol="0" anchor="t"/>
          <a:lstStyle/>
          <a:p>
            <a:pPr indent="0" marL="0">
              <a:buNone/>
            </a:pPr>
            <a:r>
              <a:rPr lang="en-US" sz="1300" dirty="0">
                <a:solidFill>
                  <a:srgbClr val="9FD3D8"/>
                </a:solidFill>
                <a:latin typeface="Calibri" pitchFamily="34" charset="0"/>
                <a:ea typeface="Calibri" pitchFamily="34" charset="-122"/>
                <a:cs typeface="Calibri" pitchFamily="34" charset="-120"/>
              </a:rPr>
              <a:t>[Department Name]  ·  [College / University Name]  ·  [Academic Year, e.g. 2026–27]</a:t>
            </a:r>
            <a:endParaRPr lang="en-US" sz="1300" dirty="0"/>
          </a:p>
        </p:txBody>
      </p:sp>
      <p:sp>
        <p:nvSpPr>
          <p:cNvPr id="6" name="Text 4"/>
          <p:cNvSpPr txBox="1"/>
          <p:nvPr/>
        </p:nvSpPr>
        <p:spPr>
          <a:xfrm>
            <a:off x="548640" y="2468880"/>
            <a:ext cx="2743200" cy="228600"/>
          </a:xfrm>
          <a:prstGeom prst="rect">
            <a:avLst/>
          </a:prstGeom>
          <a:noFill/>
          <a:ln/>
        </p:spPr>
        <p:txBody>
          <a:bodyPr wrap="square" lIns="0" tIns="0" rIns="0" bIns="0" rtlCol="0" anchor="t"/>
          <a:lstStyle/>
          <a:p>
            <a:pPr indent="0" marL="0">
              <a:buNone/>
            </a:pPr>
            <a:r>
              <a:rPr lang="en-US" sz="1200" b="1" dirty="0">
                <a:solidFill>
                  <a:srgbClr val="4FB3BD"/>
                </a:solidFill>
                <a:latin typeface="Calibri" pitchFamily="34" charset="0"/>
                <a:ea typeface="Calibri" pitchFamily="34" charset="-122"/>
                <a:cs typeface="Calibri" pitchFamily="34" charset="-120"/>
              </a:rPr>
              <a:t>Presented by</a:t>
            </a:r>
            <a:endParaRPr lang="en-US" sz="1200" dirty="0"/>
          </a:p>
        </p:txBody>
      </p:sp>
      <p:sp>
        <p:nvSpPr>
          <p:cNvPr id="7" name="Text 5"/>
          <p:cNvSpPr txBox="1"/>
          <p:nvPr/>
        </p:nvSpPr>
        <p:spPr>
          <a:xfrm>
            <a:off x="548640" y="2743200"/>
            <a:ext cx="3017520" cy="256032"/>
          </a:xfrm>
          <a:prstGeom prst="rect">
            <a:avLst/>
          </a:prstGeom>
          <a:noFill/>
          <a:ln/>
        </p:spPr>
        <p:txBody>
          <a:bodyPr wrap="square" lIns="0" tIns="0" rIns="0" bIns="0" rtlCol="0" anchor="t"/>
          <a:lstStyle/>
          <a:p>
            <a:pPr indent="0" marL="0">
              <a:buNone/>
            </a:pPr>
            <a:r>
              <a:rPr lang="en-US" sz="1300" dirty="0">
                <a:solidFill>
                  <a:srgbClr val="FFFFFF"/>
                </a:solidFill>
                <a:latin typeface="Calibri" pitchFamily="34" charset="0"/>
                <a:ea typeface="Calibri" pitchFamily="34" charset="-122"/>
                <a:cs typeface="Calibri" pitchFamily="34" charset="-120"/>
              </a:rPr>
              <a:t>M. Sai Harika</a:t>
            </a:r>
            <a:endParaRPr lang="en-US" sz="1300" dirty="0"/>
          </a:p>
        </p:txBody>
      </p:sp>
      <p:sp>
        <p:nvSpPr>
          <p:cNvPr id="8" name="Text 6"/>
          <p:cNvSpPr txBox="1"/>
          <p:nvPr/>
        </p:nvSpPr>
        <p:spPr>
          <a:xfrm>
            <a:off x="3657600" y="2743200"/>
            <a:ext cx="2011680" cy="256032"/>
          </a:xfrm>
          <a:prstGeom prst="rect">
            <a:avLst/>
          </a:prstGeom>
          <a:noFill/>
          <a:ln/>
        </p:spPr>
        <p:txBody>
          <a:bodyPr wrap="square" lIns="0" tIns="0" rIns="0" bIns="0" rtlCol="0" anchor="t"/>
          <a:lstStyle/>
          <a:p>
            <a:pPr indent="0" marL="0">
              <a:buNone/>
            </a:pPr>
            <a:r>
              <a:rPr lang="en-US" sz="1300" dirty="0">
                <a:solidFill>
                  <a:srgbClr val="9FD3D8"/>
                </a:solidFill>
                <a:latin typeface="Calibri" pitchFamily="34" charset="0"/>
                <a:ea typeface="Calibri" pitchFamily="34" charset="-122"/>
                <a:cs typeface="Calibri" pitchFamily="34" charset="-120"/>
              </a:rPr>
              <a:t>2520080068</a:t>
            </a:r>
            <a:endParaRPr lang="en-US" sz="1300" dirty="0"/>
          </a:p>
        </p:txBody>
      </p:sp>
      <p:sp>
        <p:nvSpPr>
          <p:cNvPr id="9" name="Text 7"/>
          <p:cNvSpPr txBox="1"/>
          <p:nvPr/>
        </p:nvSpPr>
        <p:spPr>
          <a:xfrm>
            <a:off x="548640" y="3035808"/>
            <a:ext cx="3017520" cy="256032"/>
          </a:xfrm>
          <a:prstGeom prst="rect">
            <a:avLst/>
          </a:prstGeom>
          <a:noFill/>
          <a:ln/>
        </p:spPr>
        <p:txBody>
          <a:bodyPr wrap="square" lIns="0" tIns="0" rIns="0" bIns="0" rtlCol="0" anchor="t"/>
          <a:lstStyle/>
          <a:p>
            <a:pPr indent="0" marL="0">
              <a:buNone/>
            </a:pPr>
            <a:r>
              <a:rPr lang="en-US" sz="1300" dirty="0">
                <a:solidFill>
                  <a:srgbClr val="FFFFFF"/>
                </a:solidFill>
                <a:latin typeface="Calibri" pitchFamily="34" charset="0"/>
                <a:ea typeface="Calibri" pitchFamily="34" charset="-122"/>
                <a:cs typeface="Calibri" pitchFamily="34" charset="-120"/>
              </a:rPr>
              <a:t>V. Hari Priya</a:t>
            </a:r>
            <a:endParaRPr lang="en-US" sz="1300" dirty="0"/>
          </a:p>
        </p:txBody>
      </p:sp>
      <p:sp>
        <p:nvSpPr>
          <p:cNvPr id="10" name="Text 8"/>
          <p:cNvSpPr txBox="1"/>
          <p:nvPr/>
        </p:nvSpPr>
        <p:spPr>
          <a:xfrm>
            <a:off x="3657600" y="3035808"/>
            <a:ext cx="2011680" cy="256032"/>
          </a:xfrm>
          <a:prstGeom prst="rect">
            <a:avLst/>
          </a:prstGeom>
          <a:noFill/>
          <a:ln/>
        </p:spPr>
        <p:txBody>
          <a:bodyPr wrap="square" lIns="0" tIns="0" rIns="0" bIns="0" rtlCol="0" anchor="t"/>
          <a:lstStyle/>
          <a:p>
            <a:pPr indent="0" marL="0">
              <a:buNone/>
            </a:pPr>
            <a:r>
              <a:rPr lang="en-US" sz="1300" dirty="0">
                <a:solidFill>
                  <a:srgbClr val="9FD3D8"/>
                </a:solidFill>
                <a:latin typeface="Calibri" pitchFamily="34" charset="0"/>
                <a:ea typeface="Calibri" pitchFamily="34" charset="-122"/>
                <a:cs typeface="Calibri" pitchFamily="34" charset="-120"/>
              </a:rPr>
              <a:t>2520080015</a:t>
            </a:r>
            <a:endParaRPr lang="en-US" sz="1300" dirty="0"/>
          </a:p>
        </p:txBody>
      </p:sp>
      <p:sp>
        <p:nvSpPr>
          <p:cNvPr id="11" name="Text 9"/>
          <p:cNvSpPr txBox="1"/>
          <p:nvPr/>
        </p:nvSpPr>
        <p:spPr>
          <a:xfrm>
            <a:off x="548640" y="3328416"/>
            <a:ext cx="3017520" cy="256032"/>
          </a:xfrm>
          <a:prstGeom prst="rect">
            <a:avLst/>
          </a:prstGeom>
          <a:noFill/>
          <a:ln/>
        </p:spPr>
        <p:txBody>
          <a:bodyPr wrap="square" lIns="0" tIns="0" rIns="0" bIns="0" rtlCol="0" anchor="t"/>
          <a:lstStyle/>
          <a:p>
            <a:pPr indent="0" marL="0">
              <a:buNone/>
            </a:pPr>
            <a:r>
              <a:rPr lang="en-US" sz="1300" dirty="0">
                <a:solidFill>
                  <a:srgbClr val="FFFFFF"/>
                </a:solidFill>
                <a:latin typeface="Calibri" pitchFamily="34" charset="0"/>
                <a:ea typeface="Calibri" pitchFamily="34" charset="-122"/>
                <a:cs typeface="Calibri" pitchFamily="34" charset="-120"/>
              </a:rPr>
              <a:t>Kiran Swami</a:t>
            </a:r>
            <a:endParaRPr lang="en-US" sz="1300" dirty="0"/>
          </a:p>
        </p:txBody>
      </p:sp>
      <p:sp>
        <p:nvSpPr>
          <p:cNvPr id="12" name="Text 10"/>
          <p:cNvSpPr txBox="1"/>
          <p:nvPr/>
        </p:nvSpPr>
        <p:spPr>
          <a:xfrm>
            <a:off x="3657600" y="3328416"/>
            <a:ext cx="2011680" cy="256032"/>
          </a:xfrm>
          <a:prstGeom prst="rect">
            <a:avLst/>
          </a:prstGeom>
          <a:noFill/>
          <a:ln/>
        </p:spPr>
        <p:txBody>
          <a:bodyPr wrap="square" lIns="0" tIns="0" rIns="0" bIns="0" rtlCol="0" anchor="t"/>
          <a:lstStyle/>
          <a:p>
            <a:pPr indent="0" marL="0">
              <a:buNone/>
            </a:pPr>
            <a:r>
              <a:rPr lang="en-US" sz="1300" dirty="0">
                <a:solidFill>
                  <a:srgbClr val="9FD3D8"/>
                </a:solidFill>
                <a:latin typeface="Calibri" pitchFamily="34" charset="0"/>
                <a:ea typeface="Calibri" pitchFamily="34" charset="-122"/>
                <a:cs typeface="Calibri" pitchFamily="34" charset="-120"/>
              </a:rPr>
              <a:t>2520090035</a:t>
            </a:r>
            <a:endParaRPr lang="en-US" sz="1300" dirty="0"/>
          </a:p>
        </p:txBody>
      </p:sp>
      <p:sp>
        <p:nvSpPr>
          <p:cNvPr id="13" name="Text 11"/>
          <p:cNvSpPr txBox="1"/>
          <p:nvPr/>
        </p:nvSpPr>
        <p:spPr>
          <a:xfrm>
            <a:off x="548640" y="3749040"/>
            <a:ext cx="2743200" cy="228600"/>
          </a:xfrm>
          <a:prstGeom prst="rect">
            <a:avLst/>
          </a:prstGeom>
          <a:noFill/>
          <a:ln/>
        </p:spPr>
        <p:txBody>
          <a:bodyPr wrap="square" lIns="0" tIns="0" rIns="0" bIns="0" rtlCol="0" anchor="t"/>
          <a:lstStyle/>
          <a:p>
            <a:pPr indent="0" marL="0">
              <a:buNone/>
            </a:pPr>
            <a:r>
              <a:rPr lang="en-US" sz="1200" b="1" dirty="0">
                <a:solidFill>
                  <a:srgbClr val="4FB3BD"/>
                </a:solidFill>
                <a:latin typeface="Calibri" pitchFamily="34" charset="0"/>
                <a:ea typeface="Calibri" pitchFamily="34" charset="-122"/>
                <a:cs typeface="Calibri" pitchFamily="34" charset="-120"/>
              </a:rPr>
              <a:t>Guided by</a:t>
            </a:r>
            <a:endParaRPr lang="en-US" sz="1200" dirty="0"/>
          </a:p>
        </p:txBody>
      </p:sp>
      <p:sp>
        <p:nvSpPr>
          <p:cNvPr id="14" name="Text 12"/>
          <p:cNvSpPr txBox="1"/>
          <p:nvPr/>
        </p:nvSpPr>
        <p:spPr>
          <a:xfrm>
            <a:off x="548640" y="4023360"/>
            <a:ext cx="5029200" cy="274320"/>
          </a:xfrm>
          <a:prstGeom prst="rect">
            <a:avLst/>
          </a:prstGeom>
          <a:noFill/>
          <a:ln/>
        </p:spPr>
        <p:txBody>
          <a:bodyPr wrap="square" lIns="0" tIns="0" rIns="0" bIns="0" rtlCol="0" anchor="t"/>
          <a:lstStyle/>
          <a:p>
            <a:pPr indent="0" marL="0">
              <a:buNone/>
            </a:pPr>
            <a:r>
              <a:rPr lang="en-US" sz="1300" dirty="0">
                <a:solidFill>
                  <a:srgbClr val="FFFFFF"/>
                </a:solidFill>
                <a:latin typeface="Calibri" pitchFamily="34" charset="0"/>
                <a:ea typeface="Calibri" pitchFamily="34" charset="-122"/>
                <a:cs typeface="Calibri" pitchFamily="34" charset="-120"/>
              </a:rPr>
              <a:t>[Guide / Supervisor name], [Designation]</a:t>
            </a:r>
            <a:endParaRPr lang="en-US" sz="1300" dirty="0"/>
          </a:p>
        </p:txBody>
      </p:sp>
      <p:sp>
        <p:nvSpPr>
          <p:cNvPr id="15" name="Shape 13"/>
          <p:cNvSpPr/>
          <p:nvPr/>
        </p:nvSpPr>
        <p:spPr>
          <a:xfrm>
            <a:off x="548640" y="4480560"/>
            <a:ext cx="1280160" cy="310896"/>
          </a:xfrm>
          <a:prstGeom prst="roundRect">
            <a:avLst>
              <a:gd name="adj" fmla="val 50000"/>
            </a:avLst>
          </a:prstGeom>
          <a:solidFill>
            <a:srgbClr val="0D6B73"/>
          </a:solidFill>
          <a:ln w="12700">
            <a:solidFill>
              <a:srgbClr val="4FB3BD"/>
            </a:solidFill>
            <a:prstDash val="solid"/>
          </a:ln>
        </p:spPr>
      </p:sp>
      <p:sp>
        <p:nvSpPr>
          <p:cNvPr id="16" name="Text 14"/>
          <p:cNvSpPr txBox="1"/>
          <p:nvPr/>
        </p:nvSpPr>
        <p:spPr>
          <a:xfrm>
            <a:off x="548640" y="4480560"/>
            <a:ext cx="1280160"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XGBoost</a:t>
            </a:r>
            <a:endParaRPr lang="en-US" sz="1100" dirty="0"/>
          </a:p>
        </p:txBody>
      </p:sp>
      <p:sp>
        <p:nvSpPr>
          <p:cNvPr id="17" name="Shape 15"/>
          <p:cNvSpPr/>
          <p:nvPr/>
        </p:nvSpPr>
        <p:spPr>
          <a:xfrm>
            <a:off x="2011680" y="4480560"/>
            <a:ext cx="1280160" cy="310896"/>
          </a:xfrm>
          <a:prstGeom prst="roundRect">
            <a:avLst>
              <a:gd name="adj" fmla="val 50000"/>
            </a:avLst>
          </a:prstGeom>
          <a:solidFill>
            <a:srgbClr val="0D6B73"/>
          </a:solidFill>
          <a:ln w="12700">
            <a:solidFill>
              <a:srgbClr val="4FB3BD"/>
            </a:solidFill>
            <a:prstDash val="solid"/>
          </a:ln>
        </p:spPr>
      </p:sp>
      <p:sp>
        <p:nvSpPr>
          <p:cNvPr id="18" name="Text 16"/>
          <p:cNvSpPr txBox="1"/>
          <p:nvPr/>
        </p:nvSpPr>
        <p:spPr>
          <a:xfrm>
            <a:off x="2011680" y="4480560"/>
            <a:ext cx="1280160"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LightGBM</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20040"/>
            <a:ext cx="8229600" cy="640080"/>
          </a:xfrm>
          <a:prstGeom prst="rect">
            <a:avLst/>
          </a:prstGeom>
          <a:noFill/>
          <a:ln/>
        </p:spPr>
        <p:txBody>
          <a:bodyPr wrap="square" lIns="0" tIns="0" rIns="0" bIns="0" rtlCol="0" anchor="t"/>
          <a:lstStyle/>
          <a:p>
            <a:pPr indent="0" marL="0">
              <a:buNone/>
            </a:pPr>
            <a:r>
              <a:rPr lang="en-US" sz="2800" b="1" dirty="0">
                <a:solidFill>
                  <a:srgbClr val="0F2A33"/>
                </a:solidFill>
                <a:latin typeface="Cambria" pitchFamily="34" charset="0"/>
                <a:ea typeface="Cambria" pitchFamily="34" charset="-122"/>
                <a:cs typeface="Cambria" pitchFamily="34" charset="-120"/>
              </a:rPr>
              <a:t>Introduction</a:t>
            </a:r>
            <a:endParaRPr lang="en-US" sz="2800" dirty="0"/>
          </a:p>
        </p:txBody>
      </p:sp>
      <p:sp>
        <p:nvSpPr>
          <p:cNvPr id="3" name="Shape 1"/>
          <p:cNvSpPr/>
          <p:nvPr/>
        </p:nvSpPr>
        <p:spPr>
          <a:xfrm>
            <a:off x="457200" y="960120"/>
            <a:ext cx="1005840" cy="45720"/>
          </a:xfrm>
          <a:prstGeom prst="rect">
            <a:avLst/>
          </a:prstGeom>
          <a:solidFill>
            <a:srgbClr val="C2410C"/>
          </a:solidFill>
          <a:ln w="12700">
            <a:solidFill>
              <a:srgbClr val="C2410C"/>
            </a:solidFill>
            <a:prstDash val="solid"/>
          </a:ln>
        </p:spPr>
      </p:sp>
      <p:sp>
        <p:nvSpPr>
          <p:cNvPr id="4" name="Shape 2"/>
          <p:cNvSpPr/>
          <p:nvPr/>
        </p:nvSpPr>
        <p:spPr>
          <a:xfrm>
            <a:off x="457200" y="1188720"/>
            <a:ext cx="3931920" cy="3200400"/>
          </a:xfrm>
          <a:prstGeom prst="roundRect">
            <a:avLst>
              <a:gd name="adj" fmla="val 2857"/>
            </a:avLst>
          </a:prstGeom>
          <a:solidFill>
            <a:srgbClr val="E6F1F2"/>
          </a:solidFill>
          <a:ln w="12700">
            <a:solidFill>
              <a:srgbClr val="E6F1F2"/>
            </a:solidFill>
            <a:prstDash val="solid"/>
          </a:ln>
        </p:spPr>
      </p:sp>
      <p:sp>
        <p:nvSpPr>
          <p:cNvPr id="5" name="Text 3"/>
          <p:cNvSpPr txBox="1"/>
          <p:nvPr/>
        </p:nvSpPr>
        <p:spPr>
          <a:xfrm>
            <a:off x="685800" y="1371600"/>
            <a:ext cx="3474720" cy="320040"/>
          </a:xfrm>
          <a:prstGeom prst="rect">
            <a:avLst/>
          </a:prstGeom>
          <a:noFill/>
          <a:ln/>
        </p:spPr>
        <p:txBody>
          <a:bodyPr wrap="square" lIns="0" tIns="0" rIns="0" bIns="0" rtlCol="0" anchor="t"/>
          <a:lstStyle/>
          <a:p>
            <a:pPr indent="0" marL="0">
              <a:buNone/>
            </a:pPr>
            <a:r>
              <a:rPr lang="en-US" sz="1600" b="1" dirty="0">
                <a:solidFill>
                  <a:srgbClr val="0D6B73"/>
                </a:solidFill>
                <a:latin typeface="Cambria" pitchFamily="34" charset="0"/>
                <a:ea typeface="Cambria" pitchFamily="34" charset="-122"/>
                <a:cs typeface="Cambria" pitchFamily="34" charset="-120"/>
              </a:rPr>
              <a:t>Background</a:t>
            </a:r>
            <a:endParaRPr lang="en-US" sz="1600" dirty="0"/>
          </a:p>
        </p:txBody>
      </p:sp>
      <p:sp>
        <p:nvSpPr>
          <p:cNvPr id="6" name="Text 4"/>
          <p:cNvSpPr txBox="1"/>
          <p:nvPr/>
        </p:nvSpPr>
        <p:spPr>
          <a:xfrm>
            <a:off x="685800" y="1783080"/>
            <a:ext cx="3474720" cy="2468880"/>
          </a:xfrm>
          <a:prstGeom prst="rect">
            <a:avLst/>
          </a:prstGeom>
          <a:noFill/>
          <a:ln/>
        </p:spPr>
        <p:txBody>
          <a:bodyPr wrap="square" lIns="0" tIns="0" rIns="0" bIns="0" rtlCol="0" anchor="t"/>
          <a:lstStyle/>
          <a:p>
            <a:pPr marL="342900" indent="-342900">
              <a:spcAft>
                <a:spcPts val="900"/>
              </a:spcAft>
              <a:buSzPct val="100000"/>
              <a:buChar char="•"/>
            </a:pPr>
            <a:r>
              <a:rPr lang="en-US" sz="1400" dirty="0">
                <a:solidFill>
                  <a:srgbClr val="0F2A33"/>
                </a:solidFill>
                <a:latin typeface="Calibri" pitchFamily="34" charset="0"/>
                <a:ea typeface="Calibri" pitchFamily="34" charset="-122"/>
                <a:cs typeface="Calibri" pitchFamily="34" charset="-120"/>
              </a:rPr>
              <a:t>Chronic kidney disease (CKD) is a gradual, often silent loss of kidney function.</a:t>
            </a:r>
            <a:endParaRPr lang="en-US" sz="1400" dirty="0"/>
          </a:p>
          <a:p>
            <a:pPr marL="342900" indent="-342900">
              <a:spcAft>
                <a:spcPts val="900"/>
              </a:spcAft>
              <a:buSzPct val="100000"/>
              <a:buChar char="•"/>
            </a:pPr>
            <a:r>
              <a:rPr lang="en-US" sz="1400" dirty="0">
                <a:solidFill>
                  <a:srgbClr val="0F2A33"/>
                </a:solidFill>
                <a:latin typeface="Calibri" pitchFamily="34" charset="0"/>
                <a:ea typeface="Calibri" pitchFamily="34" charset="-122"/>
                <a:cs typeface="Calibri" pitchFamily="34" charset="-120"/>
              </a:rPr>
              <a:t>It is usually confirmed using blood and urine lab values such as creatinine and albumin.</a:t>
            </a:r>
            <a:endParaRPr lang="en-US" sz="1400" dirty="0"/>
          </a:p>
          <a:p>
            <a:pPr marL="342900" indent="-342900">
              <a:spcAft>
                <a:spcPts val="900"/>
              </a:spcAft>
              <a:buSzPct val="100000"/>
              <a:buChar char="•"/>
            </a:pPr>
            <a:r>
              <a:rPr lang="en-US" sz="1400" dirty="0">
                <a:solidFill>
                  <a:srgbClr val="0F2A33"/>
                </a:solidFill>
                <a:latin typeface="Calibri" pitchFamily="34" charset="0"/>
                <a:ea typeface="Calibri" pitchFamily="34" charset="-122"/>
                <a:cs typeface="Calibri" pitchFamily="34" charset="-120"/>
              </a:rPr>
              <a:t>Machine learning can turn these routine values into an early risk signal.</a:t>
            </a:r>
            <a:endParaRPr lang="en-US" sz="1400" dirty="0"/>
          </a:p>
        </p:txBody>
      </p:sp>
      <p:sp>
        <p:nvSpPr>
          <p:cNvPr id="7" name="Shape 5"/>
          <p:cNvSpPr/>
          <p:nvPr/>
        </p:nvSpPr>
        <p:spPr>
          <a:xfrm>
            <a:off x="4572000" y="1188720"/>
            <a:ext cx="4114800" cy="3200400"/>
          </a:xfrm>
          <a:prstGeom prst="roundRect">
            <a:avLst>
              <a:gd name="adj" fmla="val 2857"/>
            </a:avLst>
          </a:prstGeom>
          <a:solidFill>
            <a:srgbClr val="E6F1F2"/>
          </a:solidFill>
          <a:ln w="12700">
            <a:solidFill>
              <a:srgbClr val="E6F1F2"/>
            </a:solidFill>
            <a:prstDash val="solid"/>
          </a:ln>
        </p:spPr>
      </p:sp>
      <p:sp>
        <p:nvSpPr>
          <p:cNvPr id="8" name="Text 6"/>
          <p:cNvSpPr txBox="1"/>
          <p:nvPr/>
        </p:nvSpPr>
        <p:spPr>
          <a:xfrm>
            <a:off x="4800600" y="1371600"/>
            <a:ext cx="3657600" cy="320040"/>
          </a:xfrm>
          <a:prstGeom prst="rect">
            <a:avLst/>
          </a:prstGeom>
          <a:noFill/>
          <a:ln/>
        </p:spPr>
        <p:txBody>
          <a:bodyPr wrap="square" lIns="0" tIns="0" rIns="0" bIns="0" rtlCol="0" anchor="t"/>
          <a:lstStyle/>
          <a:p>
            <a:pPr indent="0" marL="0">
              <a:buNone/>
            </a:pPr>
            <a:r>
              <a:rPr lang="en-US" sz="1600" b="1" dirty="0">
                <a:solidFill>
                  <a:srgbClr val="0D6B73"/>
                </a:solidFill>
                <a:latin typeface="Cambria" pitchFamily="34" charset="0"/>
                <a:ea typeface="Cambria" pitchFamily="34" charset="-122"/>
                <a:cs typeface="Cambria" pitchFamily="34" charset="-120"/>
              </a:rPr>
              <a:t>Domain overview</a:t>
            </a:r>
            <a:endParaRPr lang="en-US" sz="1600" dirty="0"/>
          </a:p>
        </p:txBody>
      </p:sp>
      <p:sp>
        <p:nvSpPr>
          <p:cNvPr id="9" name="Text 7"/>
          <p:cNvSpPr txBox="1"/>
          <p:nvPr/>
        </p:nvSpPr>
        <p:spPr>
          <a:xfrm>
            <a:off x="4800600" y="1783080"/>
            <a:ext cx="3657600" cy="2468880"/>
          </a:xfrm>
          <a:prstGeom prst="rect">
            <a:avLst/>
          </a:prstGeom>
          <a:noFill/>
          <a:ln/>
        </p:spPr>
        <p:txBody>
          <a:bodyPr wrap="square" lIns="0" tIns="0" rIns="0" bIns="0" rtlCol="0" anchor="t"/>
          <a:lstStyle/>
          <a:p>
            <a:pPr marL="342900" indent="-342900">
              <a:spcAft>
                <a:spcPts val="900"/>
              </a:spcAft>
              <a:buSzPct val="100000"/>
              <a:buChar char="•"/>
            </a:pPr>
            <a:r>
              <a:rPr lang="en-US" sz="1400" dirty="0">
                <a:solidFill>
                  <a:srgbClr val="0F2A33"/>
                </a:solidFill>
                <a:latin typeface="Calibri" pitchFamily="34" charset="0"/>
                <a:ea typeface="Calibri" pitchFamily="34" charset="-122"/>
                <a:cs typeface="Calibri" pitchFamily="34" charset="-120"/>
              </a:rPr>
              <a:t>Domain: healthcare analytics / clinical decision support.</a:t>
            </a:r>
            <a:endParaRPr lang="en-US" sz="1400" dirty="0"/>
          </a:p>
          <a:p>
            <a:pPr marL="342900" indent="-342900">
              <a:spcAft>
                <a:spcPts val="900"/>
              </a:spcAft>
              <a:buSzPct val="100000"/>
              <a:buChar char="•"/>
            </a:pPr>
            <a:r>
              <a:rPr lang="en-US" sz="1400" dirty="0">
                <a:solidFill>
                  <a:srgbClr val="0F2A33"/>
                </a:solidFill>
                <a:latin typeface="Calibri" pitchFamily="34" charset="0"/>
                <a:ea typeface="Calibri" pitchFamily="34" charset="-122"/>
                <a:cs typeface="Calibri" pitchFamily="34" charset="-120"/>
              </a:rPr>
              <a:t>Approach: supervised classification on tabular patient records.</a:t>
            </a:r>
            <a:endParaRPr lang="en-US" sz="1400" dirty="0"/>
          </a:p>
          <a:p>
            <a:pPr marL="342900" indent="-342900">
              <a:spcAft>
                <a:spcPts val="900"/>
              </a:spcAft>
              <a:buSzPct val="100000"/>
              <a:buChar char="•"/>
            </a:pPr>
            <a:r>
              <a:rPr lang="en-US" sz="1400" dirty="0">
                <a:solidFill>
                  <a:srgbClr val="0F2A33"/>
                </a:solidFill>
                <a:latin typeface="Calibri" pitchFamily="34" charset="0"/>
                <a:ea typeface="Calibri" pitchFamily="34" charset="-122"/>
                <a:cs typeface="Calibri" pitchFamily="34" charset="-120"/>
              </a:rPr>
              <a:t>Models: XGBoost and LightGBM, two gradient-boosted tree algorithms.</a:t>
            </a:r>
            <a:endParaRPr lang="en-US" sz="1400" dirty="0"/>
          </a:p>
          <a:p>
            <a:pPr marL="342900" indent="-342900">
              <a:spcAft>
                <a:spcPts val="900"/>
              </a:spcAft>
              <a:buSzPct val="100000"/>
              <a:buChar char="•"/>
            </a:pPr>
            <a:r>
              <a:rPr lang="en-US" sz="1400" dirty="0">
                <a:solidFill>
                  <a:srgbClr val="0F2A33"/>
                </a:solidFill>
                <a:latin typeface="Calibri" pitchFamily="34" charset="0"/>
                <a:ea typeface="Calibri" pitchFamily="34" charset="-122"/>
                <a:cs typeface="Calibri" pitchFamily="34" charset="-120"/>
              </a:rPr>
              <a:t>Why needed: CKD has no early symptoms, so late diagnosis is common and costly to treat.</a:t>
            </a:r>
            <a:endParaRPr lang="en-US" sz="1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20040"/>
            <a:ext cx="8229600" cy="640080"/>
          </a:xfrm>
          <a:prstGeom prst="rect">
            <a:avLst/>
          </a:prstGeom>
          <a:noFill/>
          <a:ln/>
        </p:spPr>
        <p:txBody>
          <a:bodyPr wrap="square" lIns="0" tIns="0" rIns="0" bIns="0" rtlCol="0" anchor="t"/>
          <a:lstStyle/>
          <a:p>
            <a:pPr indent="0" marL="0">
              <a:buNone/>
            </a:pPr>
            <a:r>
              <a:rPr lang="en-US" sz="2800" b="1" dirty="0">
                <a:solidFill>
                  <a:srgbClr val="0F2A33"/>
                </a:solidFill>
                <a:latin typeface="Cambria" pitchFamily="34" charset="0"/>
                <a:ea typeface="Cambria" pitchFamily="34" charset="-122"/>
                <a:cs typeface="Cambria" pitchFamily="34" charset="-120"/>
              </a:rPr>
              <a:t>Problem Statement</a:t>
            </a:r>
            <a:endParaRPr lang="en-US" sz="2800" dirty="0"/>
          </a:p>
        </p:txBody>
      </p:sp>
      <p:sp>
        <p:nvSpPr>
          <p:cNvPr id="3" name="Shape 1"/>
          <p:cNvSpPr/>
          <p:nvPr/>
        </p:nvSpPr>
        <p:spPr>
          <a:xfrm>
            <a:off x="457200" y="960120"/>
            <a:ext cx="1005840" cy="45720"/>
          </a:xfrm>
          <a:prstGeom prst="rect">
            <a:avLst/>
          </a:prstGeom>
          <a:solidFill>
            <a:srgbClr val="C2410C"/>
          </a:solidFill>
          <a:ln w="12700">
            <a:solidFill>
              <a:srgbClr val="C2410C"/>
            </a:solidFill>
            <a:prstDash val="solid"/>
          </a:ln>
        </p:spPr>
      </p:sp>
      <p:sp>
        <p:nvSpPr>
          <p:cNvPr id="4" name="Shape 2"/>
          <p:cNvSpPr/>
          <p:nvPr/>
        </p:nvSpPr>
        <p:spPr>
          <a:xfrm>
            <a:off x="457200" y="1188720"/>
            <a:ext cx="8229600" cy="960120"/>
          </a:xfrm>
          <a:prstGeom prst="roundRect">
            <a:avLst>
              <a:gd name="adj" fmla="val 9524"/>
            </a:avLst>
          </a:prstGeom>
          <a:solidFill>
            <a:srgbClr val="E6F1F2"/>
          </a:solidFill>
          <a:ln w="12700">
            <a:solidFill>
              <a:srgbClr val="E6F1F2"/>
            </a:solidFill>
            <a:prstDash val="solid"/>
          </a:ln>
        </p:spPr>
      </p:sp>
      <p:sp>
        <p:nvSpPr>
          <p:cNvPr id="5" name="Text 3"/>
          <p:cNvSpPr txBox="1"/>
          <p:nvPr/>
        </p:nvSpPr>
        <p:spPr>
          <a:xfrm>
            <a:off x="731520" y="1280160"/>
            <a:ext cx="2377440" cy="731520"/>
          </a:xfrm>
          <a:prstGeom prst="rect">
            <a:avLst/>
          </a:prstGeom>
          <a:noFill/>
          <a:ln/>
        </p:spPr>
        <p:txBody>
          <a:bodyPr wrap="square" lIns="0" tIns="0" rIns="0" bIns="0" rtlCol="0" anchor="ctr"/>
          <a:lstStyle/>
          <a:p>
            <a:pPr indent="0" marL="0">
              <a:buNone/>
            </a:pPr>
            <a:r>
              <a:rPr lang="en-US" sz="1500" b="1" dirty="0">
                <a:solidFill>
                  <a:srgbClr val="C2410C"/>
                </a:solidFill>
                <a:latin typeface="Cambria" pitchFamily="34" charset="0"/>
                <a:ea typeface="Cambria" pitchFamily="34" charset="-122"/>
                <a:cs typeface="Cambria" pitchFamily="34" charset="-120"/>
              </a:rPr>
              <a:t>The existing problem</a:t>
            </a:r>
            <a:endParaRPr lang="en-US" sz="1500" dirty="0"/>
          </a:p>
        </p:txBody>
      </p:sp>
      <p:sp>
        <p:nvSpPr>
          <p:cNvPr id="6" name="Text 4"/>
          <p:cNvSpPr txBox="1"/>
          <p:nvPr/>
        </p:nvSpPr>
        <p:spPr>
          <a:xfrm>
            <a:off x="3200400" y="1280160"/>
            <a:ext cx="5303520" cy="731520"/>
          </a:xfrm>
          <a:prstGeom prst="rect">
            <a:avLst/>
          </a:prstGeom>
          <a:noFill/>
          <a:ln/>
        </p:spPr>
        <p:txBody>
          <a:bodyPr wrap="square" lIns="0" tIns="0" rIns="0" bIns="0" rtlCol="0" anchor="ctr"/>
          <a:lstStyle/>
          <a:p>
            <a:pPr indent="0" marL="0">
              <a:buNone/>
            </a:pPr>
            <a:r>
              <a:rPr lang="en-US" sz="1400" dirty="0">
                <a:solidFill>
                  <a:srgbClr val="0F2A33"/>
                </a:solidFill>
                <a:latin typeface="Calibri" pitchFamily="34" charset="0"/>
                <a:ea typeface="Calibri" pitchFamily="34" charset="-122"/>
                <a:cs typeface="Calibri" pitchFamily="34" charset="-120"/>
              </a:rPr>
              <a:t>CKD is frequently diagnosed only after significant, often irreversible, kidney damage has occurred.</a:t>
            </a:r>
            <a:endParaRPr lang="en-US" sz="1400" dirty="0"/>
          </a:p>
        </p:txBody>
      </p:sp>
      <p:sp>
        <p:nvSpPr>
          <p:cNvPr id="7" name="Shape 5"/>
          <p:cNvSpPr/>
          <p:nvPr/>
        </p:nvSpPr>
        <p:spPr>
          <a:xfrm>
            <a:off x="457200" y="2286000"/>
            <a:ext cx="8229600" cy="960120"/>
          </a:xfrm>
          <a:prstGeom prst="roundRect">
            <a:avLst>
              <a:gd name="adj" fmla="val 9524"/>
            </a:avLst>
          </a:prstGeom>
          <a:solidFill>
            <a:srgbClr val="E6F1F2"/>
          </a:solidFill>
          <a:ln w="12700">
            <a:solidFill>
              <a:srgbClr val="E6F1F2"/>
            </a:solidFill>
            <a:prstDash val="solid"/>
          </a:ln>
        </p:spPr>
      </p:sp>
      <p:sp>
        <p:nvSpPr>
          <p:cNvPr id="8" name="Text 6"/>
          <p:cNvSpPr txBox="1"/>
          <p:nvPr/>
        </p:nvSpPr>
        <p:spPr>
          <a:xfrm>
            <a:off x="731520" y="2377440"/>
            <a:ext cx="2377440" cy="731520"/>
          </a:xfrm>
          <a:prstGeom prst="rect">
            <a:avLst/>
          </a:prstGeom>
          <a:noFill/>
          <a:ln/>
        </p:spPr>
        <p:txBody>
          <a:bodyPr wrap="square" lIns="0" tIns="0" rIns="0" bIns="0" rtlCol="0" anchor="ctr"/>
          <a:lstStyle/>
          <a:p>
            <a:pPr indent="0" marL="0">
              <a:buNone/>
            </a:pPr>
            <a:r>
              <a:rPr lang="en-US" sz="1500" b="1" dirty="0">
                <a:solidFill>
                  <a:srgbClr val="C2410C"/>
                </a:solidFill>
                <a:latin typeface="Cambria" pitchFamily="34" charset="0"/>
                <a:ea typeface="Cambria" pitchFamily="34" charset="-122"/>
                <a:cs typeface="Cambria" pitchFamily="34" charset="-120"/>
              </a:rPr>
              <a:t>Limitations and challenges</a:t>
            </a:r>
            <a:endParaRPr lang="en-US" sz="1500" dirty="0"/>
          </a:p>
        </p:txBody>
      </p:sp>
      <p:sp>
        <p:nvSpPr>
          <p:cNvPr id="9" name="Text 7"/>
          <p:cNvSpPr txBox="1"/>
          <p:nvPr/>
        </p:nvSpPr>
        <p:spPr>
          <a:xfrm>
            <a:off x="3200400" y="2377440"/>
            <a:ext cx="5303520" cy="731520"/>
          </a:xfrm>
          <a:prstGeom prst="rect">
            <a:avLst/>
          </a:prstGeom>
          <a:noFill/>
          <a:ln/>
        </p:spPr>
        <p:txBody>
          <a:bodyPr wrap="square" lIns="0" tIns="0" rIns="0" bIns="0" rtlCol="0" anchor="ctr"/>
          <a:lstStyle/>
          <a:p>
            <a:pPr indent="0" marL="0">
              <a:buNone/>
            </a:pPr>
            <a:r>
              <a:rPr lang="en-US" sz="1400" dirty="0">
                <a:solidFill>
                  <a:srgbClr val="0F2A33"/>
                </a:solidFill>
                <a:latin typeface="Calibri" pitchFamily="34" charset="0"/>
                <a:ea typeface="Calibri" pitchFamily="34" charset="-122"/>
                <a:cs typeface="Calibri" pitchFamily="34" charset="-120"/>
              </a:rPr>
              <a:t>Manual review of many lab values is slow, screening camps lack specialist time, and risk is not flagged early.</a:t>
            </a:r>
            <a:endParaRPr lang="en-US" sz="1400" dirty="0"/>
          </a:p>
        </p:txBody>
      </p:sp>
      <p:sp>
        <p:nvSpPr>
          <p:cNvPr id="10" name="Shape 8"/>
          <p:cNvSpPr/>
          <p:nvPr/>
        </p:nvSpPr>
        <p:spPr>
          <a:xfrm>
            <a:off x="457200" y="3383280"/>
            <a:ext cx="8229600" cy="960120"/>
          </a:xfrm>
          <a:prstGeom prst="roundRect">
            <a:avLst>
              <a:gd name="adj" fmla="val 9524"/>
            </a:avLst>
          </a:prstGeom>
          <a:solidFill>
            <a:srgbClr val="E6F1F2"/>
          </a:solidFill>
          <a:ln w="12700">
            <a:solidFill>
              <a:srgbClr val="E6F1F2"/>
            </a:solidFill>
            <a:prstDash val="solid"/>
          </a:ln>
        </p:spPr>
      </p:sp>
      <p:sp>
        <p:nvSpPr>
          <p:cNvPr id="11" name="Text 9"/>
          <p:cNvSpPr txBox="1"/>
          <p:nvPr/>
        </p:nvSpPr>
        <p:spPr>
          <a:xfrm>
            <a:off x="731520" y="3474720"/>
            <a:ext cx="2377440" cy="731520"/>
          </a:xfrm>
          <a:prstGeom prst="rect">
            <a:avLst/>
          </a:prstGeom>
          <a:noFill/>
          <a:ln/>
        </p:spPr>
        <p:txBody>
          <a:bodyPr wrap="square" lIns="0" tIns="0" rIns="0" bIns="0" rtlCol="0" anchor="ctr"/>
          <a:lstStyle/>
          <a:p>
            <a:pPr indent="0" marL="0">
              <a:buNone/>
            </a:pPr>
            <a:r>
              <a:rPr lang="en-US" sz="1500" b="1" dirty="0">
                <a:solidFill>
                  <a:srgbClr val="C2410C"/>
                </a:solidFill>
                <a:latin typeface="Cambria" pitchFamily="34" charset="0"/>
                <a:ea typeface="Cambria" pitchFamily="34" charset="-122"/>
                <a:cs typeface="Cambria" pitchFamily="34" charset="-120"/>
              </a:rPr>
              <a:t>Who is affected</a:t>
            </a:r>
            <a:endParaRPr lang="en-US" sz="1500" dirty="0"/>
          </a:p>
        </p:txBody>
      </p:sp>
      <p:sp>
        <p:nvSpPr>
          <p:cNvPr id="12" name="Text 10"/>
          <p:cNvSpPr txBox="1"/>
          <p:nvPr/>
        </p:nvSpPr>
        <p:spPr>
          <a:xfrm>
            <a:off x="3200400" y="3474720"/>
            <a:ext cx="5303520" cy="731520"/>
          </a:xfrm>
          <a:prstGeom prst="rect">
            <a:avLst/>
          </a:prstGeom>
          <a:noFill/>
          <a:ln/>
        </p:spPr>
        <p:txBody>
          <a:bodyPr wrap="square" lIns="0" tIns="0" rIns="0" bIns="0" rtlCol="0" anchor="ctr"/>
          <a:lstStyle/>
          <a:p>
            <a:pPr indent="0" marL="0">
              <a:buNone/>
            </a:pPr>
            <a:r>
              <a:rPr lang="en-US" sz="1400" dirty="0">
                <a:solidFill>
                  <a:srgbClr val="0F2A33"/>
                </a:solidFill>
                <a:latin typeface="Calibri" pitchFamily="34" charset="0"/>
                <a:ea typeface="Calibri" pitchFamily="34" charset="-122"/>
                <a:cs typeface="Calibri" pitchFamily="34" charset="-120"/>
              </a:rPr>
              <a:t>Patients with diabetes, hypertension or a family history of kidney disease, and under-resourced clinics with few nephrologists.</a:t>
            </a:r>
            <a:endParaRPr lang="en-US" sz="14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20040"/>
            <a:ext cx="8229600" cy="640080"/>
          </a:xfrm>
          <a:prstGeom prst="rect">
            <a:avLst/>
          </a:prstGeom>
          <a:noFill/>
          <a:ln/>
        </p:spPr>
        <p:txBody>
          <a:bodyPr wrap="square" lIns="0" tIns="0" rIns="0" bIns="0" rtlCol="0" anchor="t"/>
          <a:lstStyle/>
          <a:p>
            <a:pPr indent="0" marL="0">
              <a:buNone/>
            </a:pPr>
            <a:r>
              <a:rPr lang="en-US" sz="2800" b="1" dirty="0">
                <a:solidFill>
                  <a:srgbClr val="0F2A33"/>
                </a:solidFill>
                <a:latin typeface="Cambria" pitchFamily="34" charset="0"/>
                <a:ea typeface="Cambria" pitchFamily="34" charset="-122"/>
                <a:cs typeface="Cambria" pitchFamily="34" charset="-120"/>
              </a:rPr>
              <a:t>Motivation</a:t>
            </a:r>
            <a:endParaRPr lang="en-US" sz="2800" dirty="0"/>
          </a:p>
        </p:txBody>
      </p:sp>
      <p:sp>
        <p:nvSpPr>
          <p:cNvPr id="3" name="Shape 1"/>
          <p:cNvSpPr/>
          <p:nvPr/>
        </p:nvSpPr>
        <p:spPr>
          <a:xfrm>
            <a:off x="457200" y="960120"/>
            <a:ext cx="1005840" cy="45720"/>
          </a:xfrm>
          <a:prstGeom prst="rect">
            <a:avLst/>
          </a:prstGeom>
          <a:solidFill>
            <a:srgbClr val="C2410C"/>
          </a:solidFill>
          <a:ln w="12700">
            <a:solidFill>
              <a:srgbClr val="C2410C"/>
            </a:solidFill>
            <a:prstDash val="solid"/>
          </a:ln>
        </p:spPr>
      </p:sp>
      <p:sp>
        <p:nvSpPr>
          <p:cNvPr id="4" name="Shape 2"/>
          <p:cNvSpPr/>
          <p:nvPr/>
        </p:nvSpPr>
        <p:spPr>
          <a:xfrm>
            <a:off x="457200" y="1188720"/>
            <a:ext cx="2715768" cy="3017520"/>
          </a:xfrm>
          <a:prstGeom prst="roundRect">
            <a:avLst>
              <a:gd name="adj" fmla="val 3367"/>
            </a:avLst>
          </a:prstGeom>
          <a:solidFill>
            <a:srgbClr val="E6F1F2"/>
          </a:solidFill>
          <a:ln w="12700">
            <a:solidFill>
              <a:srgbClr val="E6F1F2"/>
            </a:solidFill>
            <a:prstDash val="solid"/>
          </a:ln>
        </p:spPr>
      </p:sp>
      <p:sp>
        <p:nvSpPr>
          <p:cNvPr id="5" name="Text 3"/>
          <p:cNvSpPr txBox="1"/>
          <p:nvPr/>
        </p:nvSpPr>
        <p:spPr>
          <a:xfrm>
            <a:off x="640080" y="1417320"/>
            <a:ext cx="2377440" cy="548640"/>
          </a:xfrm>
          <a:prstGeom prst="rect">
            <a:avLst/>
          </a:prstGeom>
          <a:noFill/>
          <a:ln/>
        </p:spPr>
        <p:txBody>
          <a:bodyPr wrap="square" lIns="0" tIns="0" rIns="0" bIns="0" rtlCol="0" anchor="t"/>
          <a:lstStyle/>
          <a:p>
            <a:pPr indent="0" marL="0">
              <a:buNone/>
            </a:pPr>
            <a:r>
              <a:rPr lang="en-US" sz="1500" b="1" dirty="0">
                <a:solidFill>
                  <a:srgbClr val="0D6B73"/>
                </a:solidFill>
                <a:latin typeface="Cambria" pitchFamily="34" charset="0"/>
                <a:ea typeface="Cambria" pitchFamily="34" charset="-122"/>
                <a:cs typeface="Cambria" pitchFamily="34" charset="-120"/>
              </a:rPr>
              <a:t>Why this project</a:t>
            </a:r>
            <a:endParaRPr lang="en-US" sz="1500" dirty="0"/>
          </a:p>
        </p:txBody>
      </p:sp>
      <p:sp>
        <p:nvSpPr>
          <p:cNvPr id="6" name="Text 4"/>
          <p:cNvSpPr txBox="1"/>
          <p:nvPr/>
        </p:nvSpPr>
        <p:spPr>
          <a:xfrm>
            <a:off x="640080" y="2011680"/>
            <a:ext cx="2377440" cy="2011680"/>
          </a:xfrm>
          <a:prstGeom prst="rect">
            <a:avLst/>
          </a:prstGeom>
          <a:noFill/>
          <a:ln/>
        </p:spPr>
        <p:txBody>
          <a:bodyPr wrap="square" lIns="0" tIns="0" rIns="0" bIns="0" rtlCol="0" anchor="t"/>
          <a:lstStyle/>
          <a:p>
            <a:pPr indent="0" marL="0">
              <a:buNone/>
            </a:pPr>
            <a:r>
              <a:rPr lang="en-US" sz="1350" dirty="0">
                <a:solidFill>
                  <a:srgbClr val="0F2A33"/>
                </a:solidFill>
                <a:latin typeface="Calibri" pitchFamily="34" charset="0"/>
                <a:ea typeface="Calibri" pitchFamily="34" charset="-122"/>
                <a:cs typeface="Calibri" pitchFamily="34" charset="-120"/>
              </a:rPr>
              <a:t>CKD screening is a well-scoped, data-available problem where a small ML project can show real, measurable value.</a:t>
            </a:r>
            <a:endParaRPr lang="en-US" sz="1350" dirty="0"/>
          </a:p>
        </p:txBody>
      </p:sp>
      <p:sp>
        <p:nvSpPr>
          <p:cNvPr id="7" name="Shape 5"/>
          <p:cNvSpPr/>
          <p:nvPr/>
        </p:nvSpPr>
        <p:spPr>
          <a:xfrm>
            <a:off x="3355848" y="1188720"/>
            <a:ext cx="2715768" cy="3017520"/>
          </a:xfrm>
          <a:prstGeom prst="roundRect">
            <a:avLst>
              <a:gd name="adj" fmla="val 3367"/>
            </a:avLst>
          </a:prstGeom>
          <a:solidFill>
            <a:srgbClr val="E6F1F2"/>
          </a:solidFill>
          <a:ln w="12700">
            <a:solidFill>
              <a:srgbClr val="E6F1F2"/>
            </a:solidFill>
            <a:prstDash val="solid"/>
          </a:ln>
        </p:spPr>
      </p:sp>
      <p:sp>
        <p:nvSpPr>
          <p:cNvPr id="8" name="Text 6"/>
          <p:cNvSpPr txBox="1"/>
          <p:nvPr/>
        </p:nvSpPr>
        <p:spPr>
          <a:xfrm>
            <a:off x="3538728" y="1417320"/>
            <a:ext cx="2377440" cy="548640"/>
          </a:xfrm>
          <a:prstGeom prst="rect">
            <a:avLst/>
          </a:prstGeom>
          <a:noFill/>
          <a:ln/>
        </p:spPr>
        <p:txBody>
          <a:bodyPr wrap="square" lIns="0" tIns="0" rIns="0" bIns="0" rtlCol="0" anchor="t"/>
          <a:lstStyle/>
          <a:p>
            <a:pPr indent="0" marL="0">
              <a:buNone/>
            </a:pPr>
            <a:r>
              <a:rPr lang="en-US" sz="1500" b="1" dirty="0">
                <a:solidFill>
                  <a:srgbClr val="0D6B73"/>
                </a:solidFill>
                <a:latin typeface="Cambria" pitchFamily="34" charset="0"/>
                <a:ea typeface="Cambria" pitchFamily="34" charset="-122"/>
                <a:cs typeface="Cambria" pitchFamily="34" charset="-120"/>
              </a:rPr>
              <a:t>Real-world need</a:t>
            </a:r>
            <a:endParaRPr lang="en-US" sz="1500" dirty="0"/>
          </a:p>
        </p:txBody>
      </p:sp>
      <p:sp>
        <p:nvSpPr>
          <p:cNvPr id="9" name="Text 7"/>
          <p:cNvSpPr txBox="1"/>
          <p:nvPr/>
        </p:nvSpPr>
        <p:spPr>
          <a:xfrm>
            <a:off x="3538728" y="2011680"/>
            <a:ext cx="2377440" cy="2011680"/>
          </a:xfrm>
          <a:prstGeom prst="rect">
            <a:avLst/>
          </a:prstGeom>
          <a:noFill/>
          <a:ln/>
        </p:spPr>
        <p:txBody>
          <a:bodyPr wrap="square" lIns="0" tIns="0" rIns="0" bIns="0" rtlCol="0" anchor="t"/>
          <a:lstStyle/>
          <a:p>
            <a:pPr indent="0" marL="0">
              <a:buNone/>
            </a:pPr>
            <a:r>
              <a:rPr lang="en-US" sz="1350" dirty="0">
                <a:solidFill>
                  <a:srgbClr val="0F2A33"/>
                </a:solidFill>
                <a:latin typeface="Calibri" pitchFamily="34" charset="0"/>
                <a:ea typeface="Calibri" pitchFamily="34" charset="-122"/>
                <a:cs typeface="Calibri" pitchFamily="34" charset="-120"/>
              </a:rPr>
              <a:t>Routine lab tests are already collected; the gap is turning them into an early, actionable risk score.</a:t>
            </a:r>
            <a:endParaRPr lang="en-US" sz="1350" dirty="0"/>
          </a:p>
        </p:txBody>
      </p:sp>
      <p:sp>
        <p:nvSpPr>
          <p:cNvPr id="10" name="Shape 8"/>
          <p:cNvSpPr/>
          <p:nvPr/>
        </p:nvSpPr>
        <p:spPr>
          <a:xfrm>
            <a:off x="6254496" y="1188720"/>
            <a:ext cx="2715768" cy="3017520"/>
          </a:xfrm>
          <a:prstGeom prst="roundRect">
            <a:avLst>
              <a:gd name="adj" fmla="val 3367"/>
            </a:avLst>
          </a:prstGeom>
          <a:solidFill>
            <a:srgbClr val="E6F1F2"/>
          </a:solidFill>
          <a:ln w="12700">
            <a:solidFill>
              <a:srgbClr val="E6F1F2"/>
            </a:solidFill>
            <a:prstDash val="solid"/>
          </a:ln>
        </p:spPr>
      </p:sp>
      <p:sp>
        <p:nvSpPr>
          <p:cNvPr id="11" name="Text 9"/>
          <p:cNvSpPr txBox="1"/>
          <p:nvPr/>
        </p:nvSpPr>
        <p:spPr>
          <a:xfrm>
            <a:off x="6437376" y="1417320"/>
            <a:ext cx="2377440" cy="548640"/>
          </a:xfrm>
          <a:prstGeom prst="rect">
            <a:avLst/>
          </a:prstGeom>
          <a:noFill/>
          <a:ln/>
        </p:spPr>
        <p:txBody>
          <a:bodyPr wrap="square" lIns="0" tIns="0" rIns="0" bIns="0" rtlCol="0" anchor="t"/>
          <a:lstStyle/>
          <a:p>
            <a:pPr indent="0" marL="0">
              <a:buNone/>
            </a:pPr>
            <a:r>
              <a:rPr lang="en-US" sz="1500" b="1" dirty="0">
                <a:solidFill>
                  <a:srgbClr val="0D6B73"/>
                </a:solidFill>
                <a:latin typeface="Cambria" pitchFamily="34" charset="0"/>
                <a:ea typeface="Cambria" pitchFamily="34" charset="-122"/>
                <a:cs typeface="Cambria" pitchFamily="34" charset="-120"/>
              </a:rPr>
              <a:t>Research and industry motivation</a:t>
            </a:r>
            <a:endParaRPr lang="en-US" sz="1500" dirty="0"/>
          </a:p>
        </p:txBody>
      </p:sp>
      <p:sp>
        <p:nvSpPr>
          <p:cNvPr id="12" name="Text 10"/>
          <p:cNvSpPr txBox="1"/>
          <p:nvPr/>
        </p:nvSpPr>
        <p:spPr>
          <a:xfrm>
            <a:off x="6437376" y="2011680"/>
            <a:ext cx="2377440" cy="2011680"/>
          </a:xfrm>
          <a:prstGeom prst="rect">
            <a:avLst/>
          </a:prstGeom>
          <a:noFill/>
          <a:ln/>
        </p:spPr>
        <p:txBody>
          <a:bodyPr wrap="square" lIns="0" tIns="0" rIns="0" bIns="0" rtlCol="0" anchor="t"/>
          <a:lstStyle/>
          <a:p>
            <a:pPr indent="0" marL="0">
              <a:buNone/>
            </a:pPr>
            <a:r>
              <a:rPr lang="en-US" sz="1350" dirty="0">
                <a:solidFill>
                  <a:srgbClr val="0F2A33"/>
                </a:solidFill>
                <a:latin typeface="Calibri" pitchFamily="34" charset="0"/>
                <a:ea typeface="Calibri" pitchFamily="34" charset="-122"/>
                <a:cs typeface="Calibri" pitchFamily="34" charset="-120"/>
              </a:rPr>
              <a:t>Gradient-boosted trees are the leading choice for tabular clinical data in current research and industry practice.</a:t>
            </a:r>
            <a:endParaRPr lang="en-US" sz="13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20040"/>
            <a:ext cx="8229600" cy="640080"/>
          </a:xfrm>
          <a:prstGeom prst="rect">
            <a:avLst/>
          </a:prstGeom>
          <a:noFill/>
          <a:ln/>
        </p:spPr>
        <p:txBody>
          <a:bodyPr wrap="square" lIns="0" tIns="0" rIns="0" bIns="0" rtlCol="0" anchor="t"/>
          <a:lstStyle/>
          <a:p>
            <a:pPr indent="0" marL="0">
              <a:buNone/>
            </a:pPr>
            <a:r>
              <a:rPr lang="en-US" sz="2800" b="1" dirty="0">
                <a:solidFill>
                  <a:srgbClr val="0F2A33"/>
                </a:solidFill>
                <a:latin typeface="Cambria" pitchFamily="34" charset="0"/>
                <a:ea typeface="Cambria" pitchFamily="34" charset="-122"/>
                <a:cs typeface="Cambria" pitchFamily="34" charset="-120"/>
              </a:rPr>
              <a:t>Objectives</a:t>
            </a:r>
            <a:endParaRPr lang="en-US" sz="2800" dirty="0"/>
          </a:p>
        </p:txBody>
      </p:sp>
      <p:sp>
        <p:nvSpPr>
          <p:cNvPr id="3" name="Shape 1"/>
          <p:cNvSpPr/>
          <p:nvPr/>
        </p:nvSpPr>
        <p:spPr>
          <a:xfrm>
            <a:off x="457200" y="960120"/>
            <a:ext cx="1005840" cy="45720"/>
          </a:xfrm>
          <a:prstGeom prst="rect">
            <a:avLst/>
          </a:prstGeom>
          <a:solidFill>
            <a:srgbClr val="C2410C"/>
          </a:solidFill>
          <a:ln w="12700">
            <a:solidFill>
              <a:srgbClr val="C2410C"/>
            </a:solidFill>
            <a:prstDash val="solid"/>
          </a:ln>
        </p:spPr>
      </p:sp>
      <p:sp>
        <p:nvSpPr>
          <p:cNvPr id="4" name="Shape 2"/>
          <p:cNvSpPr/>
          <p:nvPr/>
        </p:nvSpPr>
        <p:spPr>
          <a:xfrm>
            <a:off x="457200" y="1188720"/>
            <a:ext cx="8229600" cy="914400"/>
          </a:xfrm>
          <a:prstGeom prst="roundRect">
            <a:avLst>
              <a:gd name="adj" fmla="val 10000"/>
            </a:avLst>
          </a:prstGeom>
          <a:solidFill>
            <a:srgbClr val="E6F1F2"/>
          </a:solidFill>
          <a:ln w="12700">
            <a:solidFill>
              <a:srgbClr val="E6F1F2"/>
            </a:solidFill>
            <a:prstDash val="solid"/>
          </a:ln>
        </p:spPr>
      </p:sp>
      <p:sp>
        <p:nvSpPr>
          <p:cNvPr id="5" name="Text 3"/>
          <p:cNvSpPr txBox="1"/>
          <p:nvPr/>
        </p:nvSpPr>
        <p:spPr>
          <a:xfrm>
            <a:off x="685800" y="1280160"/>
            <a:ext cx="1828800" cy="274320"/>
          </a:xfrm>
          <a:prstGeom prst="rect">
            <a:avLst/>
          </a:prstGeom>
          <a:noFill/>
          <a:ln/>
        </p:spPr>
        <p:txBody>
          <a:bodyPr wrap="square" lIns="0" tIns="0" rIns="0" bIns="0" rtlCol="0" anchor="t"/>
          <a:lstStyle/>
          <a:p>
            <a:pPr indent="0" marL="0">
              <a:buNone/>
            </a:pPr>
            <a:r>
              <a:rPr lang="en-US" sz="1300" b="1" dirty="0">
                <a:solidFill>
                  <a:srgbClr val="C2410C"/>
                </a:solidFill>
                <a:latin typeface="Cambria" pitchFamily="34" charset="0"/>
                <a:ea typeface="Cambria" pitchFamily="34" charset="-122"/>
                <a:cs typeface="Cambria" pitchFamily="34" charset="-120"/>
              </a:rPr>
              <a:t>Main objective</a:t>
            </a:r>
            <a:endParaRPr lang="en-US" sz="1300" dirty="0"/>
          </a:p>
        </p:txBody>
      </p:sp>
      <p:sp>
        <p:nvSpPr>
          <p:cNvPr id="6" name="Text 4"/>
          <p:cNvSpPr txBox="1"/>
          <p:nvPr/>
        </p:nvSpPr>
        <p:spPr>
          <a:xfrm>
            <a:off x="685800" y="1554480"/>
            <a:ext cx="7772400" cy="502920"/>
          </a:xfrm>
          <a:prstGeom prst="rect">
            <a:avLst/>
          </a:prstGeom>
          <a:noFill/>
          <a:ln/>
        </p:spPr>
        <p:txBody>
          <a:bodyPr wrap="square" lIns="0" tIns="0" rIns="0" bIns="0" rtlCol="0" anchor="t"/>
          <a:lstStyle/>
          <a:p>
            <a:pPr indent="0" marL="0">
              <a:buNone/>
            </a:pPr>
            <a:r>
              <a:rPr lang="en-US" sz="1400" dirty="0">
                <a:solidFill>
                  <a:srgbClr val="0F2A33"/>
                </a:solidFill>
                <a:latin typeface="Calibri" pitchFamily="34" charset="0"/>
                <a:ea typeface="Calibri" pitchFamily="34" charset="-122"/>
                <a:cs typeface="Calibri" pitchFamily="34" charset="-120"/>
              </a:rPr>
              <a:t>Build and compare XGBoost and LightGBM models that predict CKD risk from routine lab values, delivered through a usable web interface.</a:t>
            </a:r>
            <a:endParaRPr lang="en-US" sz="1400" dirty="0"/>
          </a:p>
        </p:txBody>
      </p:sp>
      <p:sp>
        <p:nvSpPr>
          <p:cNvPr id="7" name="Text 5"/>
          <p:cNvSpPr txBox="1"/>
          <p:nvPr/>
        </p:nvSpPr>
        <p:spPr>
          <a:xfrm>
            <a:off x="685800" y="2331720"/>
            <a:ext cx="7772400" cy="2103120"/>
          </a:xfrm>
          <a:prstGeom prst="rect">
            <a:avLst/>
          </a:prstGeom>
          <a:noFill/>
          <a:ln/>
        </p:spPr>
        <p:txBody>
          <a:bodyPr wrap="square" lIns="0" tIns="0" rIns="0" bIns="0" rtlCol="0" anchor="t"/>
          <a:lstStyle/>
          <a:p>
            <a:pPr marL="342900" indent="-342900">
              <a:spcAft>
                <a:spcPts val="900"/>
              </a:spcAft>
              <a:buSzPct val="100000"/>
              <a:buChar char="•"/>
            </a:pPr>
            <a:r>
              <a:rPr lang="en-US" sz="1500" dirty="0">
                <a:solidFill>
                  <a:srgbClr val="0F2A33"/>
                </a:solidFill>
                <a:latin typeface="Calibri" pitchFamily="34" charset="0"/>
                <a:ea typeface="Calibri" pitchFamily="34" charset="-122"/>
                <a:cs typeface="Calibri" pitchFamily="34" charset="-120"/>
              </a:rPr>
              <a:t>Collect and clean the UCI CKD dataset.</a:t>
            </a:r>
            <a:endParaRPr lang="en-US" sz="1500" dirty="0"/>
          </a:p>
          <a:p>
            <a:pPr marL="342900" indent="-342900">
              <a:spcAft>
                <a:spcPts val="900"/>
              </a:spcAft>
              <a:buSzPct val="100000"/>
              <a:buChar char="•"/>
            </a:pPr>
            <a:r>
              <a:rPr lang="en-US" sz="1500" dirty="0">
                <a:solidFill>
                  <a:srgbClr val="0F2A33"/>
                </a:solidFill>
                <a:latin typeface="Calibri" pitchFamily="34" charset="0"/>
                <a:ea typeface="Calibri" pitchFamily="34" charset="-122"/>
                <a:cs typeface="Calibri" pitchFamily="34" charset="-120"/>
              </a:rPr>
              <a:t>Train and tune XGBoost and LightGBM classifiers.</a:t>
            </a:r>
            <a:endParaRPr lang="en-US" sz="1500" dirty="0"/>
          </a:p>
          <a:p>
            <a:pPr marL="342900" indent="-342900">
              <a:spcAft>
                <a:spcPts val="900"/>
              </a:spcAft>
              <a:buSzPct val="100000"/>
              <a:buChar char="•"/>
            </a:pPr>
            <a:r>
              <a:rPr lang="en-US" sz="1500" dirty="0">
                <a:solidFill>
                  <a:srgbClr val="0F2A33"/>
                </a:solidFill>
                <a:latin typeface="Calibri" pitchFamily="34" charset="0"/>
                <a:ea typeface="Calibri" pitchFamily="34" charset="-122"/>
                <a:cs typeface="Calibri" pitchFamily="34" charset="-120"/>
              </a:rPr>
              <a:t>Evaluate both models with cross-validation and multiple metrics.</a:t>
            </a:r>
            <a:endParaRPr lang="en-US" sz="1500" dirty="0"/>
          </a:p>
          <a:p>
            <a:pPr marL="342900" indent="-342900">
              <a:spcAft>
                <a:spcPts val="900"/>
              </a:spcAft>
              <a:buSzPct val="100000"/>
              <a:buChar char="•"/>
            </a:pPr>
            <a:r>
              <a:rPr lang="en-US" sz="1500" dirty="0">
                <a:solidFill>
                  <a:srgbClr val="0F2A33"/>
                </a:solidFill>
                <a:latin typeface="Calibri" pitchFamily="34" charset="0"/>
                <a:ea typeface="Calibri" pitchFamily="34" charset="-122"/>
                <a:cs typeface="Calibri" pitchFamily="34" charset="-120"/>
              </a:rPr>
              <a:t>Compare the two models and highlight where they agree or disagree.</a:t>
            </a:r>
            <a:endParaRPr lang="en-US" sz="1500" dirty="0"/>
          </a:p>
          <a:p>
            <a:pPr marL="342900" indent="-342900">
              <a:spcAft>
                <a:spcPts val="900"/>
              </a:spcAft>
              <a:buSzPct val="100000"/>
              <a:buChar char="•"/>
            </a:pPr>
            <a:r>
              <a:rPr lang="en-US" sz="1500" dirty="0">
                <a:solidFill>
                  <a:srgbClr val="0F2A33"/>
                </a:solidFill>
                <a:latin typeface="Calibri" pitchFamily="34" charset="0"/>
                <a:ea typeface="Calibri" pitchFamily="34" charset="-122"/>
                <a:cs typeface="Calibri" pitchFamily="34" charset="-120"/>
              </a:rPr>
              <a:t>Build a clinician-facing portal to view patients and risk scores.</a:t>
            </a:r>
            <a:endParaRPr lang="en-US" sz="15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20040"/>
            <a:ext cx="8229600" cy="640080"/>
          </a:xfrm>
          <a:prstGeom prst="rect">
            <a:avLst/>
          </a:prstGeom>
          <a:noFill/>
          <a:ln/>
        </p:spPr>
        <p:txBody>
          <a:bodyPr wrap="square" lIns="0" tIns="0" rIns="0" bIns="0" rtlCol="0" anchor="t"/>
          <a:lstStyle/>
          <a:p>
            <a:pPr indent="0" marL="0">
              <a:buNone/>
            </a:pPr>
            <a:r>
              <a:rPr lang="en-US" sz="2800" b="1" dirty="0">
                <a:solidFill>
                  <a:srgbClr val="0F2A33"/>
                </a:solidFill>
                <a:latin typeface="Cambria" pitchFamily="34" charset="0"/>
                <a:ea typeface="Cambria" pitchFamily="34" charset="-122"/>
                <a:cs typeface="Cambria" pitchFamily="34" charset="-120"/>
              </a:rPr>
              <a:t>Existing System</a:t>
            </a:r>
            <a:endParaRPr lang="en-US" sz="2800" dirty="0"/>
          </a:p>
        </p:txBody>
      </p:sp>
      <p:sp>
        <p:nvSpPr>
          <p:cNvPr id="3" name="Shape 1"/>
          <p:cNvSpPr/>
          <p:nvPr/>
        </p:nvSpPr>
        <p:spPr>
          <a:xfrm>
            <a:off x="457200" y="960120"/>
            <a:ext cx="1005840" cy="45720"/>
          </a:xfrm>
          <a:prstGeom prst="rect">
            <a:avLst/>
          </a:prstGeom>
          <a:solidFill>
            <a:srgbClr val="C2410C"/>
          </a:solidFill>
          <a:ln w="12700">
            <a:solidFill>
              <a:srgbClr val="C2410C"/>
            </a:solidFill>
            <a:prstDash val="solid"/>
          </a:ln>
        </p:spPr>
      </p:sp>
      <p:sp>
        <p:nvSpPr>
          <p:cNvPr id="4" name="Text 2"/>
          <p:cNvSpPr txBox="1"/>
          <p:nvPr/>
        </p:nvSpPr>
        <p:spPr>
          <a:xfrm>
            <a:off x="457200" y="1143000"/>
            <a:ext cx="8229600" cy="320040"/>
          </a:xfrm>
          <a:prstGeom prst="rect">
            <a:avLst/>
          </a:prstGeom>
          <a:noFill/>
          <a:ln/>
        </p:spPr>
        <p:txBody>
          <a:bodyPr wrap="square" lIns="0" tIns="0" rIns="0" bIns="0" rtlCol="0" anchor="t"/>
          <a:lstStyle/>
          <a:p>
            <a:pPr indent="0" marL="0">
              <a:buNone/>
            </a:pPr>
            <a:r>
              <a:rPr lang="en-US" sz="1500" b="1" dirty="0">
                <a:solidFill>
                  <a:srgbClr val="0D6B73"/>
                </a:solidFill>
                <a:latin typeface="Cambria" pitchFamily="34" charset="0"/>
                <a:ea typeface="Cambria" pitchFamily="34" charset="-122"/>
                <a:cs typeface="Cambria" pitchFamily="34" charset="-120"/>
              </a:rPr>
              <a:t>Current approach</a:t>
            </a:r>
            <a:endParaRPr lang="en-US" sz="1500" dirty="0"/>
          </a:p>
        </p:txBody>
      </p:sp>
      <p:sp>
        <p:nvSpPr>
          <p:cNvPr id="5" name="Text 3"/>
          <p:cNvSpPr txBox="1"/>
          <p:nvPr/>
        </p:nvSpPr>
        <p:spPr>
          <a:xfrm>
            <a:off x="457200" y="1463040"/>
            <a:ext cx="8046720" cy="1005840"/>
          </a:xfrm>
          <a:prstGeom prst="rect">
            <a:avLst/>
          </a:prstGeom>
          <a:noFill/>
          <a:ln/>
        </p:spPr>
        <p:txBody>
          <a:bodyPr wrap="square" lIns="0" tIns="0" rIns="0" bIns="0" rtlCol="0" anchor="t"/>
          <a:lstStyle/>
          <a:p>
            <a:pPr marL="342900" indent="-342900">
              <a:spcAft>
                <a:spcPts val="900"/>
              </a:spcAft>
              <a:buSzPct val="100000"/>
              <a:buChar char="•"/>
            </a:pPr>
            <a:r>
              <a:rPr lang="en-US" sz="1400" dirty="0">
                <a:solidFill>
                  <a:srgbClr val="0F2A33"/>
                </a:solidFill>
                <a:latin typeface="Calibri" pitchFamily="34" charset="0"/>
                <a:ea typeface="Calibri" pitchFamily="34" charset="-122"/>
                <a:cs typeface="Calibri" pitchFamily="34" charset="-120"/>
              </a:rPr>
              <a:t>Diagnosis relies on a clinician manually reviewing creatinine, eGFR and urine albumin.</a:t>
            </a:r>
            <a:endParaRPr lang="en-US" sz="1400" dirty="0"/>
          </a:p>
          <a:p>
            <a:pPr marL="342900" indent="-342900">
              <a:spcAft>
                <a:spcPts val="900"/>
              </a:spcAft>
              <a:buSzPct val="100000"/>
              <a:buChar char="•"/>
            </a:pPr>
            <a:r>
              <a:rPr lang="en-US" sz="1400" dirty="0">
                <a:solidFill>
                  <a:srgbClr val="0F2A33"/>
                </a:solidFill>
                <a:latin typeface="Calibri" pitchFamily="34" charset="0"/>
                <a:ea typeface="Calibri" pitchFamily="34" charset="-122"/>
                <a:cs typeface="Calibri" pitchFamily="34" charset="-120"/>
              </a:rPr>
              <a:t>Risk is judged case by case rather than through a consistent, data-driven score.</a:t>
            </a:r>
            <a:endParaRPr lang="en-US" sz="1400" dirty="0"/>
          </a:p>
        </p:txBody>
      </p:sp>
      <p:sp>
        <p:nvSpPr>
          <p:cNvPr id="6" name="Text 4"/>
          <p:cNvSpPr txBox="1"/>
          <p:nvPr/>
        </p:nvSpPr>
        <p:spPr>
          <a:xfrm>
            <a:off x="457200" y="2560320"/>
            <a:ext cx="8229600" cy="320040"/>
          </a:xfrm>
          <a:prstGeom prst="rect">
            <a:avLst/>
          </a:prstGeom>
          <a:noFill/>
          <a:ln/>
        </p:spPr>
        <p:txBody>
          <a:bodyPr wrap="square" lIns="0" tIns="0" rIns="0" bIns="0" rtlCol="0" anchor="t"/>
          <a:lstStyle/>
          <a:p>
            <a:pPr indent="0" marL="0">
              <a:buNone/>
            </a:pPr>
            <a:r>
              <a:rPr lang="en-US" sz="1500" b="1" dirty="0">
                <a:solidFill>
                  <a:srgbClr val="0D6B73"/>
                </a:solidFill>
                <a:latin typeface="Cambria" pitchFamily="34" charset="0"/>
                <a:ea typeface="Cambria" pitchFamily="34" charset="-122"/>
                <a:cs typeface="Cambria" pitchFamily="34" charset="-120"/>
              </a:rPr>
              <a:t>Existing technologies</a:t>
            </a:r>
            <a:endParaRPr lang="en-US" sz="1500" dirty="0"/>
          </a:p>
        </p:txBody>
      </p:sp>
      <p:sp>
        <p:nvSpPr>
          <p:cNvPr id="7" name="Text 5"/>
          <p:cNvSpPr txBox="1"/>
          <p:nvPr/>
        </p:nvSpPr>
        <p:spPr>
          <a:xfrm>
            <a:off x="457200" y="2880360"/>
            <a:ext cx="8046720" cy="1005840"/>
          </a:xfrm>
          <a:prstGeom prst="rect">
            <a:avLst/>
          </a:prstGeom>
          <a:noFill/>
          <a:ln/>
        </p:spPr>
        <p:txBody>
          <a:bodyPr wrap="square" lIns="0" tIns="0" rIns="0" bIns="0" rtlCol="0" anchor="t"/>
          <a:lstStyle/>
          <a:p>
            <a:pPr marL="342900" indent="-342900">
              <a:spcAft>
                <a:spcPts val="900"/>
              </a:spcAft>
              <a:buSzPct val="100000"/>
              <a:buChar char="•"/>
            </a:pPr>
            <a:r>
              <a:rPr lang="en-US" sz="1400" dirty="0">
                <a:solidFill>
                  <a:srgbClr val="0F2A33"/>
                </a:solidFill>
                <a:latin typeface="Calibri" pitchFamily="34" charset="0"/>
                <a:ea typeface="Calibri" pitchFamily="34" charset="-122"/>
                <a:cs typeface="Calibri" pitchFamily="34" charset="-120"/>
              </a:rPr>
              <a:t>Lab information systems that report values but do not score risk.</a:t>
            </a:r>
            <a:endParaRPr lang="en-US" sz="1400" dirty="0"/>
          </a:p>
          <a:p>
            <a:pPr marL="342900" indent="-342900">
              <a:spcAft>
                <a:spcPts val="900"/>
              </a:spcAft>
              <a:buSzPct val="100000"/>
              <a:buChar char="•"/>
            </a:pPr>
            <a:r>
              <a:rPr lang="en-US" sz="1400" dirty="0">
                <a:solidFill>
                  <a:srgbClr val="0F2A33"/>
                </a:solidFill>
                <a:latin typeface="Calibri" pitchFamily="34" charset="0"/>
                <a:ea typeface="Calibri" pitchFamily="34" charset="-122"/>
                <a:cs typeface="Calibri" pitchFamily="34" charset="-120"/>
              </a:rPr>
              <a:t>Simple threshold rules (e.g. flag creatinine above a cut-off) with no learning from past outcomes.</a:t>
            </a:r>
            <a:endParaRPr lang="en-US" sz="1400" dirty="0"/>
          </a:p>
        </p:txBody>
      </p:sp>
      <p:sp>
        <p:nvSpPr>
          <p:cNvPr id="8" name="Text 6"/>
          <p:cNvSpPr txBox="1"/>
          <p:nvPr/>
        </p:nvSpPr>
        <p:spPr>
          <a:xfrm>
            <a:off x="457200" y="3977640"/>
            <a:ext cx="8229600" cy="320040"/>
          </a:xfrm>
          <a:prstGeom prst="rect">
            <a:avLst/>
          </a:prstGeom>
          <a:noFill/>
          <a:ln/>
        </p:spPr>
        <p:txBody>
          <a:bodyPr wrap="square" lIns="0" tIns="0" rIns="0" bIns="0" rtlCol="0" anchor="t"/>
          <a:lstStyle/>
          <a:p>
            <a:pPr indent="0" marL="0">
              <a:buNone/>
            </a:pPr>
            <a:r>
              <a:rPr lang="en-US" sz="1500" b="1" dirty="0">
                <a:solidFill>
                  <a:srgbClr val="0D6B73"/>
                </a:solidFill>
                <a:latin typeface="Cambria" pitchFamily="34" charset="0"/>
                <a:ea typeface="Cambria" pitchFamily="34" charset="-122"/>
                <a:cs typeface="Cambria" pitchFamily="34" charset="-120"/>
              </a:rPr>
              <a:t>Limitations</a:t>
            </a:r>
            <a:endParaRPr lang="en-US" sz="1500" dirty="0"/>
          </a:p>
        </p:txBody>
      </p:sp>
      <p:sp>
        <p:nvSpPr>
          <p:cNvPr id="9" name="Text 7"/>
          <p:cNvSpPr txBox="1"/>
          <p:nvPr/>
        </p:nvSpPr>
        <p:spPr>
          <a:xfrm>
            <a:off x="457200" y="4297680"/>
            <a:ext cx="8046720" cy="548640"/>
          </a:xfrm>
          <a:prstGeom prst="rect">
            <a:avLst/>
          </a:prstGeom>
          <a:noFill/>
          <a:ln/>
        </p:spPr>
        <p:txBody>
          <a:bodyPr wrap="square" lIns="0" tIns="0" rIns="0" bIns="0" rtlCol="0" anchor="t"/>
          <a:lstStyle/>
          <a:p>
            <a:pPr marL="342900" indent="-342900">
              <a:spcAft>
                <a:spcPts val="900"/>
              </a:spcAft>
              <a:buSzPct val="100000"/>
              <a:buChar char="•"/>
            </a:pPr>
            <a:r>
              <a:rPr lang="en-US" sz="1400" dirty="0">
                <a:solidFill>
                  <a:srgbClr val="0F2A33"/>
                </a:solidFill>
                <a:latin typeface="Calibri" pitchFamily="34" charset="0"/>
                <a:ea typeface="Calibri" pitchFamily="34" charset="-122"/>
                <a:cs typeface="Calibri" pitchFamily="34" charset="-120"/>
              </a:rPr>
              <a:t>No automatic early-warning signal; screening depends on specialist availability and time.</a:t>
            </a:r>
            <a:endParaRPr lang="en-US" sz="14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20040"/>
            <a:ext cx="8229600" cy="640080"/>
          </a:xfrm>
          <a:prstGeom prst="rect">
            <a:avLst/>
          </a:prstGeom>
          <a:noFill/>
          <a:ln/>
        </p:spPr>
        <p:txBody>
          <a:bodyPr wrap="square" lIns="0" tIns="0" rIns="0" bIns="0" rtlCol="0" anchor="t"/>
          <a:lstStyle/>
          <a:p>
            <a:pPr indent="0" marL="0">
              <a:buNone/>
            </a:pPr>
            <a:r>
              <a:rPr lang="en-US" sz="2800" b="1" dirty="0">
                <a:solidFill>
                  <a:srgbClr val="0F2A33"/>
                </a:solidFill>
                <a:latin typeface="Cambria" pitchFamily="34" charset="0"/>
                <a:ea typeface="Cambria" pitchFamily="34" charset="-122"/>
                <a:cs typeface="Cambria" pitchFamily="34" charset="-120"/>
              </a:rPr>
              <a:t>Proposed System</a:t>
            </a:r>
            <a:endParaRPr lang="en-US" sz="2800" dirty="0"/>
          </a:p>
        </p:txBody>
      </p:sp>
      <p:sp>
        <p:nvSpPr>
          <p:cNvPr id="3" name="Shape 1"/>
          <p:cNvSpPr/>
          <p:nvPr/>
        </p:nvSpPr>
        <p:spPr>
          <a:xfrm>
            <a:off x="457200" y="960120"/>
            <a:ext cx="1005840" cy="45720"/>
          </a:xfrm>
          <a:prstGeom prst="rect">
            <a:avLst/>
          </a:prstGeom>
          <a:solidFill>
            <a:srgbClr val="C2410C"/>
          </a:solidFill>
          <a:ln w="12700">
            <a:solidFill>
              <a:srgbClr val="C2410C"/>
            </a:solidFill>
            <a:prstDash val="solid"/>
          </a:ln>
        </p:spPr>
      </p:sp>
      <p:sp>
        <p:nvSpPr>
          <p:cNvPr id="4" name="Text 2"/>
          <p:cNvSpPr txBox="1"/>
          <p:nvPr/>
        </p:nvSpPr>
        <p:spPr>
          <a:xfrm>
            <a:off x="457200" y="1143000"/>
            <a:ext cx="8229600" cy="731520"/>
          </a:xfrm>
          <a:prstGeom prst="rect">
            <a:avLst/>
          </a:prstGeom>
          <a:noFill/>
          <a:ln/>
        </p:spPr>
        <p:txBody>
          <a:bodyPr wrap="square" lIns="0" tIns="0" rIns="0" bIns="0" rtlCol="0" anchor="t"/>
          <a:lstStyle/>
          <a:p>
            <a:pPr indent="0" marL="0">
              <a:buNone/>
            </a:pPr>
            <a:r>
              <a:rPr lang="en-US" sz="1500" dirty="0">
                <a:solidFill>
                  <a:srgbClr val="0F2A33"/>
                </a:solidFill>
                <a:latin typeface="Calibri" pitchFamily="34" charset="0"/>
                <a:ea typeface="Calibri" pitchFamily="34" charset="-122"/>
                <a:cs typeface="Calibri" pitchFamily="34" charset="-120"/>
              </a:rPr>
              <a:t>A web-based screening tool that scores CKD risk from routine lab values using two gradient-boosted tree models, shown side by side so disagreement itself becomes a signal.</a:t>
            </a:r>
            <a:endParaRPr lang="en-US" sz="1500" dirty="0"/>
          </a:p>
        </p:txBody>
      </p:sp>
      <p:sp>
        <p:nvSpPr>
          <p:cNvPr id="5" name="Shape 3"/>
          <p:cNvSpPr/>
          <p:nvPr/>
        </p:nvSpPr>
        <p:spPr>
          <a:xfrm>
            <a:off x="457200" y="2011680"/>
            <a:ext cx="2715768" cy="2194560"/>
          </a:xfrm>
          <a:prstGeom prst="roundRect">
            <a:avLst>
              <a:gd name="adj" fmla="val 4167"/>
            </a:avLst>
          </a:prstGeom>
          <a:solidFill>
            <a:srgbClr val="E6F1F2"/>
          </a:solidFill>
          <a:ln w="12700">
            <a:solidFill>
              <a:srgbClr val="E6F1F2"/>
            </a:solidFill>
            <a:prstDash val="solid"/>
          </a:ln>
        </p:spPr>
      </p:sp>
      <p:sp>
        <p:nvSpPr>
          <p:cNvPr id="6" name="Text 4"/>
          <p:cNvSpPr txBox="1"/>
          <p:nvPr/>
        </p:nvSpPr>
        <p:spPr>
          <a:xfrm>
            <a:off x="640080" y="2194560"/>
            <a:ext cx="2377440" cy="365760"/>
          </a:xfrm>
          <a:prstGeom prst="rect">
            <a:avLst/>
          </a:prstGeom>
          <a:noFill/>
          <a:ln/>
        </p:spPr>
        <p:txBody>
          <a:bodyPr wrap="square" lIns="0" tIns="0" rIns="0" bIns="0" rtlCol="0" anchor="t"/>
          <a:lstStyle/>
          <a:p>
            <a:pPr indent="0" marL="0">
              <a:buNone/>
            </a:pPr>
            <a:r>
              <a:rPr lang="en-US" sz="1400" b="1" dirty="0">
                <a:solidFill>
                  <a:srgbClr val="2F7D4F"/>
                </a:solidFill>
                <a:latin typeface="Cambria" pitchFamily="34" charset="0"/>
                <a:ea typeface="Cambria" pitchFamily="34" charset="-122"/>
                <a:cs typeface="Cambria" pitchFamily="34" charset="-120"/>
              </a:rPr>
              <a:t>Early flagging</a:t>
            </a:r>
            <a:endParaRPr lang="en-US" sz="1400" dirty="0"/>
          </a:p>
        </p:txBody>
      </p:sp>
      <p:sp>
        <p:nvSpPr>
          <p:cNvPr id="7" name="Text 5"/>
          <p:cNvSpPr txBox="1"/>
          <p:nvPr/>
        </p:nvSpPr>
        <p:spPr>
          <a:xfrm>
            <a:off x="640080" y="2606040"/>
            <a:ext cx="2377440" cy="1463040"/>
          </a:xfrm>
          <a:prstGeom prst="rect">
            <a:avLst/>
          </a:prstGeom>
          <a:noFill/>
          <a:ln/>
        </p:spPr>
        <p:txBody>
          <a:bodyPr wrap="square" lIns="0" tIns="0" rIns="0" bIns="0" rtlCol="0" anchor="t"/>
          <a:lstStyle/>
          <a:p>
            <a:pPr indent="0" marL="0">
              <a:buNone/>
            </a:pPr>
            <a:r>
              <a:rPr lang="en-US" sz="1300" dirty="0">
                <a:solidFill>
                  <a:srgbClr val="0F2A33"/>
                </a:solidFill>
                <a:latin typeface="Calibri" pitchFamily="34" charset="0"/>
                <a:ea typeface="Calibri" pitchFamily="34" charset="-122"/>
                <a:cs typeface="Calibri" pitchFamily="34" charset="-120"/>
              </a:rPr>
              <a:t>Scores risk the moment lab values are entered, before symptoms appear.</a:t>
            </a:r>
            <a:endParaRPr lang="en-US" sz="1300" dirty="0"/>
          </a:p>
        </p:txBody>
      </p:sp>
      <p:sp>
        <p:nvSpPr>
          <p:cNvPr id="8" name="Shape 6"/>
          <p:cNvSpPr/>
          <p:nvPr/>
        </p:nvSpPr>
        <p:spPr>
          <a:xfrm>
            <a:off x="3355848" y="2011680"/>
            <a:ext cx="2715768" cy="2194560"/>
          </a:xfrm>
          <a:prstGeom prst="roundRect">
            <a:avLst>
              <a:gd name="adj" fmla="val 4167"/>
            </a:avLst>
          </a:prstGeom>
          <a:solidFill>
            <a:srgbClr val="E6F1F2"/>
          </a:solidFill>
          <a:ln w="12700">
            <a:solidFill>
              <a:srgbClr val="E6F1F2"/>
            </a:solidFill>
            <a:prstDash val="solid"/>
          </a:ln>
        </p:spPr>
      </p:sp>
      <p:sp>
        <p:nvSpPr>
          <p:cNvPr id="9" name="Text 7"/>
          <p:cNvSpPr txBox="1"/>
          <p:nvPr/>
        </p:nvSpPr>
        <p:spPr>
          <a:xfrm>
            <a:off x="3538728" y="2194560"/>
            <a:ext cx="2377440" cy="365760"/>
          </a:xfrm>
          <a:prstGeom prst="rect">
            <a:avLst/>
          </a:prstGeom>
          <a:noFill/>
          <a:ln/>
        </p:spPr>
        <p:txBody>
          <a:bodyPr wrap="square" lIns="0" tIns="0" rIns="0" bIns="0" rtlCol="0" anchor="t"/>
          <a:lstStyle/>
          <a:p>
            <a:pPr indent="0" marL="0">
              <a:buNone/>
            </a:pPr>
            <a:r>
              <a:rPr lang="en-US" sz="1400" b="1" dirty="0">
                <a:solidFill>
                  <a:srgbClr val="2F7D4F"/>
                </a:solidFill>
                <a:latin typeface="Cambria" pitchFamily="34" charset="0"/>
                <a:ea typeface="Cambria" pitchFamily="34" charset="-122"/>
                <a:cs typeface="Cambria" pitchFamily="34" charset="-120"/>
              </a:rPr>
              <a:t>Two-model check</a:t>
            </a:r>
            <a:endParaRPr lang="en-US" sz="1400" dirty="0"/>
          </a:p>
        </p:txBody>
      </p:sp>
      <p:sp>
        <p:nvSpPr>
          <p:cNvPr id="10" name="Text 8"/>
          <p:cNvSpPr txBox="1"/>
          <p:nvPr/>
        </p:nvSpPr>
        <p:spPr>
          <a:xfrm>
            <a:off x="3538728" y="2606040"/>
            <a:ext cx="2377440" cy="1463040"/>
          </a:xfrm>
          <a:prstGeom prst="rect">
            <a:avLst/>
          </a:prstGeom>
          <a:noFill/>
          <a:ln/>
        </p:spPr>
        <p:txBody>
          <a:bodyPr wrap="square" lIns="0" tIns="0" rIns="0" bIns="0" rtlCol="0" anchor="t"/>
          <a:lstStyle/>
          <a:p>
            <a:pPr indent="0" marL="0">
              <a:buNone/>
            </a:pPr>
            <a:r>
              <a:rPr lang="en-US" sz="1300" dirty="0">
                <a:solidFill>
                  <a:srgbClr val="0F2A33"/>
                </a:solidFill>
                <a:latin typeface="Calibri" pitchFamily="34" charset="0"/>
                <a:ea typeface="Calibri" pitchFamily="34" charset="-122"/>
                <a:cs typeface="Calibri" pitchFamily="34" charset="-120"/>
              </a:rPr>
              <a:t>Running XGBoost and LightGBM together highlights uncertain cases needing review.</a:t>
            </a:r>
            <a:endParaRPr lang="en-US" sz="1300" dirty="0"/>
          </a:p>
        </p:txBody>
      </p:sp>
      <p:sp>
        <p:nvSpPr>
          <p:cNvPr id="11" name="Shape 9"/>
          <p:cNvSpPr/>
          <p:nvPr/>
        </p:nvSpPr>
        <p:spPr>
          <a:xfrm>
            <a:off x="6254496" y="2011680"/>
            <a:ext cx="2715768" cy="2194560"/>
          </a:xfrm>
          <a:prstGeom prst="roundRect">
            <a:avLst>
              <a:gd name="adj" fmla="val 4167"/>
            </a:avLst>
          </a:prstGeom>
          <a:solidFill>
            <a:srgbClr val="E6F1F2"/>
          </a:solidFill>
          <a:ln w="12700">
            <a:solidFill>
              <a:srgbClr val="E6F1F2"/>
            </a:solidFill>
            <a:prstDash val="solid"/>
          </a:ln>
        </p:spPr>
      </p:sp>
      <p:sp>
        <p:nvSpPr>
          <p:cNvPr id="12" name="Text 10"/>
          <p:cNvSpPr txBox="1"/>
          <p:nvPr/>
        </p:nvSpPr>
        <p:spPr>
          <a:xfrm>
            <a:off x="6437376" y="2194560"/>
            <a:ext cx="2377440" cy="365760"/>
          </a:xfrm>
          <a:prstGeom prst="rect">
            <a:avLst/>
          </a:prstGeom>
          <a:noFill/>
          <a:ln/>
        </p:spPr>
        <p:txBody>
          <a:bodyPr wrap="square" lIns="0" tIns="0" rIns="0" bIns="0" rtlCol="0" anchor="t"/>
          <a:lstStyle/>
          <a:p>
            <a:pPr indent="0" marL="0">
              <a:buNone/>
            </a:pPr>
            <a:r>
              <a:rPr lang="en-US" sz="1400" b="1" dirty="0">
                <a:solidFill>
                  <a:srgbClr val="2F7D4F"/>
                </a:solidFill>
                <a:latin typeface="Cambria" pitchFamily="34" charset="0"/>
                <a:ea typeface="Cambria" pitchFamily="34" charset="-122"/>
                <a:cs typeface="Cambria" pitchFamily="34" charset="-120"/>
              </a:rPr>
              <a:t>Accessible interface</a:t>
            </a:r>
            <a:endParaRPr lang="en-US" sz="1400" dirty="0"/>
          </a:p>
        </p:txBody>
      </p:sp>
      <p:sp>
        <p:nvSpPr>
          <p:cNvPr id="13" name="Text 11"/>
          <p:cNvSpPr txBox="1"/>
          <p:nvPr/>
        </p:nvSpPr>
        <p:spPr>
          <a:xfrm>
            <a:off x="6437376" y="2606040"/>
            <a:ext cx="2377440" cy="1463040"/>
          </a:xfrm>
          <a:prstGeom prst="rect">
            <a:avLst/>
          </a:prstGeom>
          <a:noFill/>
          <a:ln/>
        </p:spPr>
        <p:txBody>
          <a:bodyPr wrap="square" lIns="0" tIns="0" rIns="0" bIns="0" rtlCol="0" anchor="t"/>
          <a:lstStyle/>
          <a:p>
            <a:pPr indent="0" marL="0">
              <a:buNone/>
            </a:pPr>
            <a:r>
              <a:rPr lang="en-US" sz="1300" dirty="0">
                <a:solidFill>
                  <a:srgbClr val="0F2A33"/>
                </a:solidFill>
                <a:latin typeface="Calibri" pitchFamily="34" charset="0"/>
                <a:ea typeface="Calibri" pitchFamily="34" charset="-122"/>
                <a:cs typeface="Calibri" pitchFamily="34" charset="-120"/>
              </a:rPr>
              <a:t>A clinician portal with patient list, history and profile, usable without a data-science background.</a:t>
            </a:r>
            <a:endParaRPr lang="en-US" sz="13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20040"/>
            <a:ext cx="8229600" cy="640080"/>
          </a:xfrm>
          <a:prstGeom prst="rect">
            <a:avLst/>
          </a:prstGeom>
          <a:noFill/>
          <a:ln/>
        </p:spPr>
        <p:txBody>
          <a:bodyPr wrap="square" lIns="0" tIns="0" rIns="0" bIns="0" rtlCol="0" anchor="t"/>
          <a:lstStyle/>
          <a:p>
            <a:pPr indent="0" marL="0">
              <a:buNone/>
            </a:pPr>
            <a:r>
              <a:rPr lang="en-US" sz="2800" b="1" dirty="0">
                <a:solidFill>
                  <a:srgbClr val="0F2A33"/>
                </a:solidFill>
                <a:latin typeface="Cambria" pitchFamily="34" charset="0"/>
                <a:ea typeface="Cambria" pitchFamily="34" charset="-122"/>
                <a:cs typeface="Cambria" pitchFamily="34" charset="-120"/>
              </a:rPr>
              <a:t>System Architecture</a:t>
            </a:r>
            <a:endParaRPr lang="en-US" sz="2800" dirty="0"/>
          </a:p>
        </p:txBody>
      </p:sp>
      <p:sp>
        <p:nvSpPr>
          <p:cNvPr id="3" name="Shape 1"/>
          <p:cNvSpPr/>
          <p:nvPr/>
        </p:nvSpPr>
        <p:spPr>
          <a:xfrm>
            <a:off x="457200" y="960120"/>
            <a:ext cx="1005840" cy="45720"/>
          </a:xfrm>
          <a:prstGeom prst="rect">
            <a:avLst/>
          </a:prstGeom>
          <a:solidFill>
            <a:srgbClr val="C2410C"/>
          </a:solidFill>
          <a:ln w="12700">
            <a:solidFill>
              <a:srgbClr val="C2410C"/>
            </a:solidFill>
            <a:prstDash val="solid"/>
          </a:ln>
        </p:spPr>
      </p:sp>
      <p:sp>
        <p:nvSpPr>
          <p:cNvPr id="4" name="Shape 2"/>
          <p:cNvSpPr/>
          <p:nvPr/>
        </p:nvSpPr>
        <p:spPr>
          <a:xfrm>
            <a:off x="457200" y="1737360"/>
            <a:ext cx="1828800" cy="1371600"/>
          </a:xfrm>
          <a:prstGeom prst="roundRect">
            <a:avLst>
              <a:gd name="adj" fmla="val 6667"/>
            </a:avLst>
          </a:prstGeom>
          <a:solidFill>
            <a:srgbClr val="0D6B73"/>
          </a:solidFill>
          <a:ln w="12700">
            <a:solidFill>
              <a:srgbClr val="0D6B73"/>
            </a:solidFill>
            <a:prstDash val="solid"/>
          </a:ln>
        </p:spPr>
      </p:sp>
      <p:sp>
        <p:nvSpPr>
          <p:cNvPr id="5" name="Text 3"/>
          <p:cNvSpPr txBox="1"/>
          <p:nvPr/>
        </p:nvSpPr>
        <p:spPr>
          <a:xfrm>
            <a:off x="457200" y="1828800"/>
            <a:ext cx="1828800" cy="365760"/>
          </a:xfrm>
          <a:prstGeom prst="rect">
            <a:avLst/>
          </a:prstGeom>
          <a:noFill/>
          <a:ln/>
        </p:spPr>
        <p:txBody>
          <a:bodyPr wrap="square" lIns="0" tIns="0" rIns="0" bIns="0" rtlCol="0" anchor="t"/>
          <a:lstStyle/>
          <a:p>
            <a:pPr algn="ctr" indent="0" marL="0">
              <a:buNone/>
            </a:pPr>
            <a:r>
              <a:rPr lang="en-US" sz="1400" b="1" dirty="0">
                <a:solidFill>
                  <a:srgbClr val="FFFFFF"/>
                </a:solidFill>
                <a:latin typeface="Cambria" pitchFamily="34" charset="0"/>
                <a:ea typeface="Cambria" pitchFamily="34" charset="-122"/>
                <a:cs typeface="Cambria" pitchFamily="34" charset="-120"/>
              </a:rPr>
              <a:t>Input</a:t>
            </a:r>
            <a:endParaRPr lang="en-US" sz="1400" dirty="0"/>
          </a:p>
        </p:txBody>
      </p:sp>
      <p:sp>
        <p:nvSpPr>
          <p:cNvPr id="6" name="Text 4"/>
          <p:cNvSpPr txBox="1"/>
          <p:nvPr/>
        </p:nvSpPr>
        <p:spPr>
          <a:xfrm>
            <a:off x="548640" y="2240280"/>
            <a:ext cx="1645920" cy="777240"/>
          </a:xfrm>
          <a:prstGeom prst="rect">
            <a:avLst/>
          </a:prstGeom>
          <a:noFill/>
          <a:ln/>
        </p:spPr>
        <p:txBody>
          <a:bodyPr wrap="square" lIns="0" tIns="0" rIns="0" bIns="0" rtlCol="0" anchor="t"/>
          <a:lstStyle/>
          <a:p>
            <a:pPr algn="ctr" indent="0" marL="0">
              <a:buNone/>
            </a:pPr>
            <a:r>
              <a:rPr lang="en-US" sz="1150" dirty="0">
                <a:solidFill>
                  <a:srgbClr val="FFFFFF"/>
                </a:solidFill>
                <a:latin typeface="Calibri" pitchFamily="34" charset="0"/>
                <a:ea typeface="Calibri" pitchFamily="34" charset="-122"/>
                <a:cs typeface="Calibri" pitchFamily="34" charset="-120"/>
              </a:rPr>
              <a:t>Patient lab values</a:t>
            </a:r>
            <a:endParaRPr lang="en-US" sz="1150" dirty="0"/>
          </a:p>
          <a:p>
            <a:pPr algn="ctr" indent="0" marL="0">
              <a:buNone/>
            </a:pPr>
            <a:r>
              <a:rPr lang="en-US" sz="1150" dirty="0">
                <a:solidFill>
                  <a:srgbClr val="FFFFFF"/>
                </a:solidFill>
                <a:latin typeface="Calibri" pitchFamily="34" charset="0"/>
                <a:ea typeface="Calibri" pitchFamily="34" charset="-122"/>
                <a:cs typeface="Calibri" pitchFamily="34" charset="-120"/>
              </a:rPr>
              <a:t>&amp; history</a:t>
            </a:r>
            <a:endParaRPr lang="en-US" sz="1150" dirty="0"/>
          </a:p>
        </p:txBody>
      </p:sp>
      <p:sp>
        <p:nvSpPr>
          <p:cNvPr id="7" name="Shape 5"/>
          <p:cNvSpPr/>
          <p:nvPr/>
        </p:nvSpPr>
        <p:spPr>
          <a:xfrm>
            <a:off x="2313432" y="2331720"/>
            <a:ext cx="201168" cy="201168"/>
          </a:xfrm>
          <a:prstGeom prst="rightArrow">
            <a:avLst/>
          </a:prstGeom>
          <a:solidFill>
            <a:srgbClr val="5A7580"/>
          </a:solidFill>
          <a:ln w="12700">
            <a:solidFill>
              <a:srgbClr val="5A7580"/>
            </a:solidFill>
            <a:prstDash val="solid"/>
          </a:ln>
        </p:spPr>
      </p:sp>
      <p:sp>
        <p:nvSpPr>
          <p:cNvPr id="8" name="Shape 6"/>
          <p:cNvSpPr/>
          <p:nvPr/>
        </p:nvSpPr>
        <p:spPr>
          <a:xfrm>
            <a:off x="2606040" y="1737360"/>
            <a:ext cx="1828800" cy="1371600"/>
          </a:xfrm>
          <a:prstGeom prst="roundRect">
            <a:avLst>
              <a:gd name="adj" fmla="val 6667"/>
            </a:avLst>
          </a:prstGeom>
          <a:solidFill>
            <a:srgbClr val="0D6B73"/>
          </a:solidFill>
          <a:ln w="12700">
            <a:solidFill>
              <a:srgbClr val="0D6B73"/>
            </a:solidFill>
            <a:prstDash val="solid"/>
          </a:ln>
        </p:spPr>
      </p:sp>
      <p:sp>
        <p:nvSpPr>
          <p:cNvPr id="9" name="Text 7"/>
          <p:cNvSpPr txBox="1"/>
          <p:nvPr/>
        </p:nvSpPr>
        <p:spPr>
          <a:xfrm>
            <a:off x="2606040" y="1828800"/>
            <a:ext cx="1828800" cy="365760"/>
          </a:xfrm>
          <a:prstGeom prst="rect">
            <a:avLst/>
          </a:prstGeom>
          <a:noFill/>
          <a:ln/>
        </p:spPr>
        <p:txBody>
          <a:bodyPr wrap="square" lIns="0" tIns="0" rIns="0" bIns="0" rtlCol="0" anchor="t"/>
          <a:lstStyle/>
          <a:p>
            <a:pPr algn="ctr" indent="0" marL="0">
              <a:buNone/>
            </a:pPr>
            <a:r>
              <a:rPr lang="en-US" sz="1400" b="1" dirty="0">
                <a:solidFill>
                  <a:srgbClr val="FFFFFF"/>
                </a:solidFill>
                <a:latin typeface="Cambria" pitchFamily="34" charset="0"/>
                <a:ea typeface="Cambria" pitchFamily="34" charset="-122"/>
                <a:cs typeface="Cambria" pitchFamily="34" charset="-120"/>
              </a:rPr>
              <a:t>Preprocessing</a:t>
            </a:r>
            <a:endParaRPr lang="en-US" sz="1400" dirty="0"/>
          </a:p>
        </p:txBody>
      </p:sp>
      <p:sp>
        <p:nvSpPr>
          <p:cNvPr id="10" name="Text 8"/>
          <p:cNvSpPr txBox="1"/>
          <p:nvPr/>
        </p:nvSpPr>
        <p:spPr>
          <a:xfrm>
            <a:off x="2697480" y="2240280"/>
            <a:ext cx="1645920" cy="777240"/>
          </a:xfrm>
          <a:prstGeom prst="rect">
            <a:avLst/>
          </a:prstGeom>
          <a:noFill/>
          <a:ln/>
        </p:spPr>
        <p:txBody>
          <a:bodyPr wrap="square" lIns="0" tIns="0" rIns="0" bIns="0" rtlCol="0" anchor="t"/>
          <a:lstStyle/>
          <a:p>
            <a:pPr algn="ctr" indent="0" marL="0">
              <a:buNone/>
            </a:pPr>
            <a:r>
              <a:rPr lang="en-US" sz="1150" dirty="0">
                <a:solidFill>
                  <a:srgbClr val="FFFFFF"/>
                </a:solidFill>
                <a:latin typeface="Calibri" pitchFamily="34" charset="0"/>
                <a:ea typeface="Calibri" pitchFamily="34" charset="-122"/>
                <a:cs typeface="Calibri" pitchFamily="34" charset="-120"/>
              </a:rPr>
              <a:t>Cleaning, encoding,</a:t>
            </a:r>
            <a:endParaRPr lang="en-US" sz="1150" dirty="0"/>
          </a:p>
          <a:p>
            <a:pPr algn="ctr" indent="0" marL="0">
              <a:buNone/>
            </a:pPr>
            <a:r>
              <a:rPr lang="en-US" sz="1150" dirty="0">
                <a:solidFill>
                  <a:srgbClr val="FFFFFF"/>
                </a:solidFill>
                <a:latin typeface="Calibri" pitchFamily="34" charset="0"/>
                <a:ea typeface="Calibri" pitchFamily="34" charset="-122"/>
                <a:cs typeface="Calibri" pitchFamily="34" charset="-120"/>
              </a:rPr>
              <a:t>imputation</a:t>
            </a:r>
            <a:endParaRPr lang="en-US" sz="1150" dirty="0"/>
          </a:p>
        </p:txBody>
      </p:sp>
      <p:sp>
        <p:nvSpPr>
          <p:cNvPr id="11" name="Shape 9"/>
          <p:cNvSpPr/>
          <p:nvPr/>
        </p:nvSpPr>
        <p:spPr>
          <a:xfrm>
            <a:off x="4462272" y="2331720"/>
            <a:ext cx="201168" cy="201168"/>
          </a:xfrm>
          <a:prstGeom prst="rightArrow">
            <a:avLst/>
          </a:prstGeom>
          <a:solidFill>
            <a:srgbClr val="5A7580"/>
          </a:solidFill>
          <a:ln w="12700">
            <a:solidFill>
              <a:srgbClr val="5A7580"/>
            </a:solidFill>
            <a:prstDash val="solid"/>
          </a:ln>
        </p:spPr>
      </p:sp>
      <p:sp>
        <p:nvSpPr>
          <p:cNvPr id="12" name="Shape 10"/>
          <p:cNvSpPr/>
          <p:nvPr/>
        </p:nvSpPr>
        <p:spPr>
          <a:xfrm>
            <a:off x="4754880" y="1737360"/>
            <a:ext cx="1828800" cy="1371600"/>
          </a:xfrm>
          <a:prstGeom prst="roundRect">
            <a:avLst>
              <a:gd name="adj" fmla="val 6667"/>
            </a:avLst>
          </a:prstGeom>
          <a:solidFill>
            <a:srgbClr val="C2410C"/>
          </a:solidFill>
          <a:ln w="12700">
            <a:solidFill>
              <a:srgbClr val="C2410C"/>
            </a:solidFill>
            <a:prstDash val="solid"/>
          </a:ln>
        </p:spPr>
      </p:sp>
      <p:sp>
        <p:nvSpPr>
          <p:cNvPr id="13" name="Text 11"/>
          <p:cNvSpPr txBox="1"/>
          <p:nvPr/>
        </p:nvSpPr>
        <p:spPr>
          <a:xfrm>
            <a:off x="4754880" y="1828800"/>
            <a:ext cx="1828800" cy="365760"/>
          </a:xfrm>
          <a:prstGeom prst="rect">
            <a:avLst/>
          </a:prstGeom>
          <a:noFill/>
          <a:ln/>
        </p:spPr>
        <p:txBody>
          <a:bodyPr wrap="square" lIns="0" tIns="0" rIns="0" bIns="0" rtlCol="0" anchor="t"/>
          <a:lstStyle/>
          <a:p>
            <a:pPr algn="ctr" indent="0" marL="0">
              <a:buNone/>
            </a:pPr>
            <a:r>
              <a:rPr lang="en-US" sz="1400" b="1" dirty="0">
                <a:solidFill>
                  <a:srgbClr val="FFFFFF"/>
                </a:solidFill>
                <a:latin typeface="Cambria" pitchFamily="34" charset="0"/>
                <a:ea typeface="Cambria" pitchFamily="34" charset="-122"/>
                <a:cs typeface="Cambria" pitchFamily="34" charset="-120"/>
              </a:rPr>
              <a:t>Model layer</a:t>
            </a:r>
            <a:endParaRPr lang="en-US" sz="1400" dirty="0"/>
          </a:p>
        </p:txBody>
      </p:sp>
      <p:sp>
        <p:nvSpPr>
          <p:cNvPr id="14" name="Text 12"/>
          <p:cNvSpPr txBox="1"/>
          <p:nvPr/>
        </p:nvSpPr>
        <p:spPr>
          <a:xfrm>
            <a:off x="4846320" y="2240280"/>
            <a:ext cx="1645920" cy="777240"/>
          </a:xfrm>
          <a:prstGeom prst="rect">
            <a:avLst/>
          </a:prstGeom>
          <a:noFill/>
          <a:ln/>
        </p:spPr>
        <p:txBody>
          <a:bodyPr wrap="square" lIns="0" tIns="0" rIns="0" bIns="0" rtlCol="0" anchor="t"/>
          <a:lstStyle/>
          <a:p>
            <a:pPr algn="ctr" indent="0" marL="0">
              <a:buNone/>
            </a:pPr>
            <a:r>
              <a:rPr lang="en-US" sz="1150" dirty="0">
                <a:solidFill>
                  <a:srgbClr val="FFFFFF"/>
                </a:solidFill>
                <a:latin typeface="Calibri" pitchFamily="34" charset="0"/>
                <a:ea typeface="Calibri" pitchFamily="34" charset="-122"/>
                <a:cs typeface="Calibri" pitchFamily="34" charset="-120"/>
              </a:rPr>
              <a:t>XGBoost +</a:t>
            </a:r>
            <a:endParaRPr lang="en-US" sz="1150" dirty="0"/>
          </a:p>
          <a:p>
            <a:pPr algn="ctr" indent="0" marL="0">
              <a:buNone/>
            </a:pPr>
            <a:r>
              <a:rPr lang="en-US" sz="1150" dirty="0">
                <a:solidFill>
                  <a:srgbClr val="FFFFFF"/>
                </a:solidFill>
                <a:latin typeface="Calibri" pitchFamily="34" charset="0"/>
                <a:ea typeface="Calibri" pitchFamily="34" charset="-122"/>
                <a:cs typeface="Calibri" pitchFamily="34" charset="-120"/>
              </a:rPr>
              <a:t>LightGBM</a:t>
            </a:r>
            <a:endParaRPr lang="en-US" sz="1150" dirty="0"/>
          </a:p>
        </p:txBody>
      </p:sp>
      <p:sp>
        <p:nvSpPr>
          <p:cNvPr id="15" name="Shape 13"/>
          <p:cNvSpPr/>
          <p:nvPr/>
        </p:nvSpPr>
        <p:spPr>
          <a:xfrm>
            <a:off x="6611112" y="2331720"/>
            <a:ext cx="201168" cy="201168"/>
          </a:xfrm>
          <a:prstGeom prst="rightArrow">
            <a:avLst/>
          </a:prstGeom>
          <a:solidFill>
            <a:srgbClr val="5A7580"/>
          </a:solidFill>
          <a:ln w="12700">
            <a:solidFill>
              <a:srgbClr val="5A7580"/>
            </a:solidFill>
            <a:prstDash val="solid"/>
          </a:ln>
        </p:spPr>
      </p:sp>
      <p:sp>
        <p:nvSpPr>
          <p:cNvPr id="16" name="Shape 14"/>
          <p:cNvSpPr/>
          <p:nvPr/>
        </p:nvSpPr>
        <p:spPr>
          <a:xfrm>
            <a:off x="6903720" y="1737360"/>
            <a:ext cx="1828800" cy="1371600"/>
          </a:xfrm>
          <a:prstGeom prst="roundRect">
            <a:avLst>
              <a:gd name="adj" fmla="val 6667"/>
            </a:avLst>
          </a:prstGeom>
          <a:solidFill>
            <a:srgbClr val="0D6B73"/>
          </a:solidFill>
          <a:ln w="12700">
            <a:solidFill>
              <a:srgbClr val="0D6B73"/>
            </a:solidFill>
            <a:prstDash val="solid"/>
          </a:ln>
        </p:spPr>
      </p:sp>
      <p:sp>
        <p:nvSpPr>
          <p:cNvPr id="17" name="Text 15"/>
          <p:cNvSpPr txBox="1"/>
          <p:nvPr/>
        </p:nvSpPr>
        <p:spPr>
          <a:xfrm>
            <a:off x="6903720" y="1828800"/>
            <a:ext cx="1828800" cy="365760"/>
          </a:xfrm>
          <a:prstGeom prst="rect">
            <a:avLst/>
          </a:prstGeom>
          <a:noFill/>
          <a:ln/>
        </p:spPr>
        <p:txBody>
          <a:bodyPr wrap="square" lIns="0" tIns="0" rIns="0" bIns="0" rtlCol="0" anchor="t"/>
          <a:lstStyle/>
          <a:p>
            <a:pPr algn="ctr" indent="0" marL="0">
              <a:buNone/>
            </a:pPr>
            <a:r>
              <a:rPr lang="en-US" sz="1400" b="1" dirty="0">
                <a:solidFill>
                  <a:srgbClr val="FFFFFF"/>
                </a:solidFill>
                <a:latin typeface="Cambria" pitchFamily="34" charset="0"/>
                <a:ea typeface="Cambria" pitchFamily="34" charset="-122"/>
                <a:cs typeface="Cambria" pitchFamily="34" charset="-120"/>
              </a:rPr>
              <a:t>Output</a:t>
            </a:r>
            <a:endParaRPr lang="en-US" sz="1400" dirty="0"/>
          </a:p>
        </p:txBody>
      </p:sp>
      <p:sp>
        <p:nvSpPr>
          <p:cNvPr id="18" name="Text 16"/>
          <p:cNvSpPr txBox="1"/>
          <p:nvPr/>
        </p:nvSpPr>
        <p:spPr>
          <a:xfrm>
            <a:off x="6995160" y="2240280"/>
            <a:ext cx="1645920" cy="777240"/>
          </a:xfrm>
          <a:prstGeom prst="rect">
            <a:avLst/>
          </a:prstGeom>
          <a:noFill/>
          <a:ln/>
        </p:spPr>
        <p:txBody>
          <a:bodyPr wrap="square" lIns="0" tIns="0" rIns="0" bIns="0" rtlCol="0" anchor="t"/>
          <a:lstStyle/>
          <a:p>
            <a:pPr algn="ctr" indent="0" marL="0">
              <a:buNone/>
            </a:pPr>
            <a:r>
              <a:rPr lang="en-US" sz="1150" dirty="0">
                <a:solidFill>
                  <a:srgbClr val="FFFFFF"/>
                </a:solidFill>
                <a:latin typeface="Calibri" pitchFamily="34" charset="0"/>
                <a:ea typeface="Calibri" pitchFamily="34" charset="-122"/>
                <a:cs typeface="Calibri" pitchFamily="34" charset="-120"/>
              </a:rPr>
              <a:t>Risk score &amp;</a:t>
            </a:r>
            <a:endParaRPr lang="en-US" sz="1150" dirty="0"/>
          </a:p>
          <a:p>
            <a:pPr algn="ctr" indent="0" marL="0">
              <a:buNone/>
            </a:pPr>
            <a:r>
              <a:rPr lang="en-US" sz="1150" dirty="0">
                <a:solidFill>
                  <a:srgbClr val="FFFFFF"/>
                </a:solidFill>
                <a:latin typeface="Calibri" pitchFamily="34" charset="0"/>
                <a:ea typeface="Calibri" pitchFamily="34" charset="-122"/>
                <a:cs typeface="Calibri" pitchFamily="34" charset="-120"/>
              </a:rPr>
              <a:t>agreement flag</a:t>
            </a:r>
            <a:endParaRPr lang="en-US" sz="1150" dirty="0"/>
          </a:p>
        </p:txBody>
      </p:sp>
      <p:sp>
        <p:nvSpPr>
          <p:cNvPr id="19" name="Shape 17"/>
          <p:cNvSpPr/>
          <p:nvPr/>
        </p:nvSpPr>
        <p:spPr>
          <a:xfrm>
            <a:off x="457200" y="3429000"/>
            <a:ext cx="8229600" cy="914400"/>
          </a:xfrm>
          <a:prstGeom prst="roundRect">
            <a:avLst>
              <a:gd name="adj" fmla="val 10000"/>
            </a:avLst>
          </a:prstGeom>
          <a:solidFill>
            <a:srgbClr val="E6F1F2"/>
          </a:solidFill>
          <a:ln w="12700">
            <a:solidFill>
              <a:srgbClr val="E6F1F2"/>
            </a:solidFill>
            <a:prstDash val="solid"/>
          </a:ln>
        </p:spPr>
      </p:sp>
      <p:sp>
        <p:nvSpPr>
          <p:cNvPr id="20" name="Text 18"/>
          <p:cNvSpPr txBox="1"/>
          <p:nvPr/>
        </p:nvSpPr>
        <p:spPr>
          <a:xfrm>
            <a:off x="685800" y="3611880"/>
            <a:ext cx="7772400" cy="594360"/>
          </a:xfrm>
          <a:prstGeom prst="rect">
            <a:avLst/>
          </a:prstGeom>
          <a:noFill/>
          <a:ln/>
        </p:spPr>
        <p:txBody>
          <a:bodyPr wrap="square" lIns="0" tIns="0" rIns="0" bIns="0" rtlCol="0" anchor="t"/>
          <a:lstStyle/>
          <a:p>
            <a:pPr indent="0" marL="0">
              <a:buNone/>
            </a:pPr>
            <a:r>
              <a:rPr lang="en-US" sz="1300" dirty="0">
                <a:solidFill>
                  <a:srgbClr val="0F2A33"/>
                </a:solidFill>
                <a:latin typeface="Calibri" pitchFamily="34" charset="0"/>
                <a:ea typeface="Calibri" pitchFamily="34" charset="-122"/>
                <a:cs typeface="Calibri" pitchFamily="34" charset="-120"/>
              </a:rPr>
              <a:t>Processing/modules: data loader → cleaning → feature encoder → XGBoost model → LightGBM model → score combiner → web UI.</a:t>
            </a:r>
            <a:endParaRPr lang="en-US" sz="13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20040"/>
            <a:ext cx="8229600" cy="640080"/>
          </a:xfrm>
          <a:prstGeom prst="rect">
            <a:avLst/>
          </a:prstGeom>
          <a:noFill/>
          <a:ln/>
        </p:spPr>
        <p:txBody>
          <a:bodyPr wrap="square" lIns="0" tIns="0" rIns="0" bIns="0" rtlCol="0" anchor="t"/>
          <a:lstStyle/>
          <a:p>
            <a:pPr indent="0" marL="0">
              <a:buNone/>
            </a:pPr>
            <a:r>
              <a:rPr lang="en-US" sz="2800" b="1" dirty="0">
                <a:solidFill>
                  <a:srgbClr val="0F2A33"/>
                </a:solidFill>
                <a:latin typeface="Cambria" pitchFamily="34" charset="0"/>
                <a:ea typeface="Cambria" pitchFamily="34" charset="-122"/>
                <a:cs typeface="Cambria" pitchFamily="34" charset="-120"/>
              </a:rPr>
              <a:t>Methodology / Workflow</a:t>
            </a:r>
            <a:endParaRPr lang="en-US" sz="2800" dirty="0"/>
          </a:p>
        </p:txBody>
      </p:sp>
      <p:sp>
        <p:nvSpPr>
          <p:cNvPr id="3" name="Shape 1"/>
          <p:cNvSpPr/>
          <p:nvPr/>
        </p:nvSpPr>
        <p:spPr>
          <a:xfrm>
            <a:off x="457200" y="960120"/>
            <a:ext cx="1005840" cy="45720"/>
          </a:xfrm>
          <a:prstGeom prst="rect">
            <a:avLst/>
          </a:prstGeom>
          <a:solidFill>
            <a:srgbClr val="C2410C"/>
          </a:solidFill>
          <a:ln w="12700">
            <a:solidFill>
              <a:srgbClr val="C2410C"/>
            </a:solidFill>
            <a:prstDash val="solid"/>
          </a:ln>
        </p:spPr>
      </p:sp>
      <p:sp>
        <p:nvSpPr>
          <p:cNvPr id="4" name="Shape 2"/>
          <p:cNvSpPr/>
          <p:nvPr/>
        </p:nvSpPr>
        <p:spPr>
          <a:xfrm>
            <a:off x="457200" y="1371600"/>
            <a:ext cx="1463040" cy="914400"/>
          </a:xfrm>
          <a:prstGeom prst="roundRect">
            <a:avLst>
              <a:gd name="adj" fmla="val 10000"/>
            </a:avLst>
          </a:prstGeom>
          <a:solidFill>
            <a:srgbClr val="0D6B73"/>
          </a:solidFill>
          <a:ln w="12700">
            <a:solidFill>
              <a:srgbClr val="0D6B73"/>
            </a:solidFill>
            <a:prstDash val="solid"/>
          </a:ln>
        </p:spPr>
      </p:sp>
      <p:sp>
        <p:nvSpPr>
          <p:cNvPr id="5" name="Text 3"/>
          <p:cNvSpPr txBox="1"/>
          <p:nvPr/>
        </p:nvSpPr>
        <p:spPr>
          <a:xfrm>
            <a:off x="457200" y="1371600"/>
            <a:ext cx="1463040" cy="914400"/>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Clean</a:t>
            </a:r>
            <a:endParaRPr lang="en-US" sz="1600" dirty="0"/>
          </a:p>
        </p:txBody>
      </p:sp>
      <p:sp>
        <p:nvSpPr>
          <p:cNvPr id="6" name="Shape 4"/>
          <p:cNvSpPr/>
          <p:nvPr/>
        </p:nvSpPr>
        <p:spPr>
          <a:xfrm>
            <a:off x="1947672" y="1737360"/>
            <a:ext cx="201168" cy="201168"/>
          </a:xfrm>
          <a:prstGeom prst="rightArrow">
            <a:avLst/>
          </a:prstGeom>
          <a:solidFill>
            <a:srgbClr val="5A7580"/>
          </a:solidFill>
          <a:ln w="12700">
            <a:solidFill>
              <a:srgbClr val="5A7580"/>
            </a:solidFill>
            <a:prstDash val="solid"/>
          </a:ln>
        </p:spPr>
      </p:sp>
      <p:sp>
        <p:nvSpPr>
          <p:cNvPr id="7" name="Text 5"/>
          <p:cNvSpPr txBox="1"/>
          <p:nvPr/>
        </p:nvSpPr>
        <p:spPr>
          <a:xfrm>
            <a:off x="457200" y="2514600"/>
            <a:ext cx="1463040" cy="1737360"/>
          </a:xfrm>
          <a:prstGeom prst="rect">
            <a:avLst/>
          </a:prstGeom>
          <a:noFill/>
          <a:ln/>
        </p:spPr>
        <p:txBody>
          <a:bodyPr wrap="square" lIns="0" tIns="0" rIns="0" bIns="0" rtlCol="0" anchor="t"/>
          <a:lstStyle/>
          <a:p>
            <a:pPr indent="0" marL="0">
              <a:buNone/>
            </a:pPr>
            <a:r>
              <a:rPr lang="en-US" sz="1250" dirty="0">
                <a:solidFill>
                  <a:srgbClr val="0F2A33"/>
                </a:solidFill>
                <a:latin typeface="Calibri" pitchFamily="34" charset="0"/>
                <a:ea typeface="Calibri" pitchFamily="34" charset="-122"/>
                <a:cs typeface="Calibri" pitchFamily="34" charset="-120"/>
              </a:rPr>
              <a:t>Trim label text, map classes to 1/0, mark "?" as missing</a:t>
            </a:r>
            <a:endParaRPr lang="en-US" sz="1250" dirty="0"/>
          </a:p>
        </p:txBody>
      </p:sp>
      <p:sp>
        <p:nvSpPr>
          <p:cNvPr id="8" name="Shape 6"/>
          <p:cNvSpPr/>
          <p:nvPr/>
        </p:nvSpPr>
        <p:spPr>
          <a:xfrm>
            <a:off x="2148840" y="1371600"/>
            <a:ext cx="1463040" cy="914400"/>
          </a:xfrm>
          <a:prstGeom prst="roundRect">
            <a:avLst>
              <a:gd name="adj" fmla="val 10000"/>
            </a:avLst>
          </a:prstGeom>
          <a:solidFill>
            <a:srgbClr val="0D6B73"/>
          </a:solidFill>
          <a:ln w="12700">
            <a:solidFill>
              <a:srgbClr val="0D6B73"/>
            </a:solidFill>
            <a:prstDash val="solid"/>
          </a:ln>
        </p:spPr>
      </p:sp>
      <p:sp>
        <p:nvSpPr>
          <p:cNvPr id="9" name="Text 7"/>
          <p:cNvSpPr txBox="1"/>
          <p:nvPr/>
        </p:nvSpPr>
        <p:spPr>
          <a:xfrm>
            <a:off x="2148840" y="1371600"/>
            <a:ext cx="1463040" cy="914400"/>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Encode</a:t>
            </a:r>
            <a:endParaRPr lang="en-US" sz="1600" dirty="0"/>
          </a:p>
        </p:txBody>
      </p:sp>
      <p:sp>
        <p:nvSpPr>
          <p:cNvPr id="10" name="Shape 8"/>
          <p:cNvSpPr/>
          <p:nvPr/>
        </p:nvSpPr>
        <p:spPr>
          <a:xfrm>
            <a:off x="3639312" y="1737360"/>
            <a:ext cx="201168" cy="201168"/>
          </a:xfrm>
          <a:prstGeom prst="rightArrow">
            <a:avLst/>
          </a:prstGeom>
          <a:solidFill>
            <a:srgbClr val="5A7580"/>
          </a:solidFill>
          <a:ln w="12700">
            <a:solidFill>
              <a:srgbClr val="5A7580"/>
            </a:solidFill>
            <a:prstDash val="solid"/>
          </a:ln>
        </p:spPr>
      </p:sp>
      <p:sp>
        <p:nvSpPr>
          <p:cNvPr id="11" name="Text 9"/>
          <p:cNvSpPr txBox="1"/>
          <p:nvPr/>
        </p:nvSpPr>
        <p:spPr>
          <a:xfrm>
            <a:off x="2148840" y="2514600"/>
            <a:ext cx="1463040" cy="1737360"/>
          </a:xfrm>
          <a:prstGeom prst="rect">
            <a:avLst/>
          </a:prstGeom>
          <a:noFill/>
          <a:ln/>
        </p:spPr>
        <p:txBody>
          <a:bodyPr wrap="square" lIns="0" tIns="0" rIns="0" bIns="0" rtlCol="0" anchor="t"/>
          <a:lstStyle/>
          <a:p>
            <a:pPr indent="0" marL="0">
              <a:buNone/>
            </a:pPr>
            <a:r>
              <a:rPr lang="en-US" sz="1250" dirty="0">
                <a:solidFill>
                  <a:srgbClr val="0F2A33"/>
                </a:solidFill>
                <a:latin typeface="Calibri" pitchFamily="34" charset="0"/>
                <a:ea typeface="Calibri" pitchFamily="34" charset="-122"/>
                <a:cs typeface="Calibri" pitchFamily="34" charset="-120"/>
              </a:rPr>
              <a:t>One-hot encode categorical fields, impute numeric medians</a:t>
            </a:r>
            <a:endParaRPr lang="en-US" sz="1250" dirty="0"/>
          </a:p>
        </p:txBody>
      </p:sp>
      <p:sp>
        <p:nvSpPr>
          <p:cNvPr id="12" name="Shape 10"/>
          <p:cNvSpPr/>
          <p:nvPr/>
        </p:nvSpPr>
        <p:spPr>
          <a:xfrm>
            <a:off x="3840480" y="1371600"/>
            <a:ext cx="1463040" cy="914400"/>
          </a:xfrm>
          <a:prstGeom prst="roundRect">
            <a:avLst>
              <a:gd name="adj" fmla="val 10000"/>
            </a:avLst>
          </a:prstGeom>
          <a:solidFill>
            <a:srgbClr val="0D6B73"/>
          </a:solidFill>
          <a:ln w="12700">
            <a:solidFill>
              <a:srgbClr val="0D6B73"/>
            </a:solidFill>
            <a:prstDash val="solid"/>
          </a:ln>
        </p:spPr>
      </p:sp>
      <p:sp>
        <p:nvSpPr>
          <p:cNvPr id="13" name="Text 11"/>
          <p:cNvSpPr txBox="1"/>
          <p:nvPr/>
        </p:nvSpPr>
        <p:spPr>
          <a:xfrm>
            <a:off x="3840480" y="1371600"/>
            <a:ext cx="1463040" cy="914400"/>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Train</a:t>
            </a:r>
            <a:endParaRPr lang="en-US" sz="1600" dirty="0"/>
          </a:p>
        </p:txBody>
      </p:sp>
      <p:sp>
        <p:nvSpPr>
          <p:cNvPr id="14" name="Shape 12"/>
          <p:cNvSpPr/>
          <p:nvPr/>
        </p:nvSpPr>
        <p:spPr>
          <a:xfrm>
            <a:off x="5330952" y="1737360"/>
            <a:ext cx="201168" cy="201168"/>
          </a:xfrm>
          <a:prstGeom prst="rightArrow">
            <a:avLst/>
          </a:prstGeom>
          <a:solidFill>
            <a:srgbClr val="5A7580"/>
          </a:solidFill>
          <a:ln w="12700">
            <a:solidFill>
              <a:srgbClr val="5A7580"/>
            </a:solidFill>
            <a:prstDash val="solid"/>
          </a:ln>
        </p:spPr>
      </p:sp>
      <p:sp>
        <p:nvSpPr>
          <p:cNvPr id="15" name="Text 13"/>
          <p:cNvSpPr txBox="1"/>
          <p:nvPr/>
        </p:nvSpPr>
        <p:spPr>
          <a:xfrm>
            <a:off x="3840480" y="2514600"/>
            <a:ext cx="1463040" cy="1737360"/>
          </a:xfrm>
          <a:prstGeom prst="rect">
            <a:avLst/>
          </a:prstGeom>
          <a:noFill/>
          <a:ln/>
        </p:spPr>
        <p:txBody>
          <a:bodyPr wrap="square" lIns="0" tIns="0" rIns="0" bIns="0" rtlCol="0" anchor="t"/>
          <a:lstStyle/>
          <a:p>
            <a:pPr indent="0" marL="0">
              <a:buNone/>
            </a:pPr>
            <a:r>
              <a:rPr lang="en-US" sz="1250" dirty="0">
                <a:solidFill>
                  <a:srgbClr val="0F2A33"/>
                </a:solidFill>
                <a:latin typeface="Calibri" pitchFamily="34" charset="0"/>
                <a:ea typeface="Calibri" pitchFamily="34" charset="-122"/>
                <a:cs typeface="Calibri" pitchFamily="34" charset="-120"/>
              </a:rPr>
              <a:t>Fit XGBoost and LightGBM with stratified 5-fold CV</a:t>
            </a:r>
            <a:endParaRPr lang="en-US" sz="1250" dirty="0"/>
          </a:p>
        </p:txBody>
      </p:sp>
      <p:sp>
        <p:nvSpPr>
          <p:cNvPr id="16" name="Shape 14"/>
          <p:cNvSpPr/>
          <p:nvPr/>
        </p:nvSpPr>
        <p:spPr>
          <a:xfrm>
            <a:off x="5532120" y="1371600"/>
            <a:ext cx="1463040" cy="914400"/>
          </a:xfrm>
          <a:prstGeom prst="roundRect">
            <a:avLst>
              <a:gd name="adj" fmla="val 10000"/>
            </a:avLst>
          </a:prstGeom>
          <a:solidFill>
            <a:srgbClr val="0D6B73"/>
          </a:solidFill>
          <a:ln w="12700">
            <a:solidFill>
              <a:srgbClr val="0D6B73"/>
            </a:solidFill>
            <a:prstDash val="solid"/>
          </a:ln>
        </p:spPr>
      </p:sp>
      <p:sp>
        <p:nvSpPr>
          <p:cNvPr id="17" name="Text 15"/>
          <p:cNvSpPr txBox="1"/>
          <p:nvPr/>
        </p:nvSpPr>
        <p:spPr>
          <a:xfrm>
            <a:off x="5532120" y="1371600"/>
            <a:ext cx="1463040" cy="914400"/>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Evaluate</a:t>
            </a:r>
            <a:endParaRPr lang="en-US" sz="1600" dirty="0"/>
          </a:p>
        </p:txBody>
      </p:sp>
      <p:sp>
        <p:nvSpPr>
          <p:cNvPr id="18" name="Shape 16"/>
          <p:cNvSpPr/>
          <p:nvPr/>
        </p:nvSpPr>
        <p:spPr>
          <a:xfrm>
            <a:off x="7022592" y="1737360"/>
            <a:ext cx="201168" cy="201168"/>
          </a:xfrm>
          <a:prstGeom prst="rightArrow">
            <a:avLst/>
          </a:prstGeom>
          <a:solidFill>
            <a:srgbClr val="5A7580"/>
          </a:solidFill>
          <a:ln w="12700">
            <a:solidFill>
              <a:srgbClr val="5A7580"/>
            </a:solidFill>
            <a:prstDash val="solid"/>
          </a:ln>
        </p:spPr>
      </p:sp>
      <p:sp>
        <p:nvSpPr>
          <p:cNvPr id="19" name="Text 17"/>
          <p:cNvSpPr txBox="1"/>
          <p:nvPr/>
        </p:nvSpPr>
        <p:spPr>
          <a:xfrm>
            <a:off x="5532120" y="2514600"/>
            <a:ext cx="1463040" cy="1737360"/>
          </a:xfrm>
          <a:prstGeom prst="rect">
            <a:avLst/>
          </a:prstGeom>
          <a:noFill/>
          <a:ln/>
        </p:spPr>
        <p:txBody>
          <a:bodyPr wrap="square" lIns="0" tIns="0" rIns="0" bIns="0" rtlCol="0" anchor="t"/>
          <a:lstStyle/>
          <a:p>
            <a:pPr indent="0" marL="0">
              <a:buNone/>
            </a:pPr>
            <a:r>
              <a:rPr lang="en-US" sz="1250" dirty="0">
                <a:solidFill>
                  <a:srgbClr val="0F2A33"/>
                </a:solidFill>
                <a:latin typeface="Calibri" pitchFamily="34" charset="0"/>
                <a:ea typeface="Calibri" pitchFamily="34" charset="-122"/>
                <a:cs typeface="Calibri" pitchFamily="34" charset="-120"/>
              </a:rPr>
              <a:t>Score with AUC, recall, precision and a confusion matrix</a:t>
            </a:r>
            <a:endParaRPr lang="en-US" sz="1250" dirty="0"/>
          </a:p>
        </p:txBody>
      </p:sp>
      <p:sp>
        <p:nvSpPr>
          <p:cNvPr id="20" name="Shape 18"/>
          <p:cNvSpPr/>
          <p:nvPr/>
        </p:nvSpPr>
        <p:spPr>
          <a:xfrm>
            <a:off x="7223760" y="1371600"/>
            <a:ext cx="1463040" cy="914400"/>
          </a:xfrm>
          <a:prstGeom prst="roundRect">
            <a:avLst>
              <a:gd name="adj" fmla="val 10000"/>
            </a:avLst>
          </a:prstGeom>
          <a:solidFill>
            <a:srgbClr val="C2410C"/>
          </a:solidFill>
          <a:ln w="12700">
            <a:solidFill>
              <a:srgbClr val="C2410C"/>
            </a:solidFill>
            <a:prstDash val="solid"/>
          </a:ln>
        </p:spPr>
      </p:sp>
      <p:sp>
        <p:nvSpPr>
          <p:cNvPr id="21" name="Text 19"/>
          <p:cNvSpPr txBox="1"/>
          <p:nvPr/>
        </p:nvSpPr>
        <p:spPr>
          <a:xfrm>
            <a:off x="7223760" y="1371600"/>
            <a:ext cx="1463040" cy="914400"/>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Deploy</a:t>
            </a:r>
            <a:endParaRPr lang="en-US" sz="1600" dirty="0"/>
          </a:p>
        </p:txBody>
      </p:sp>
      <p:sp>
        <p:nvSpPr>
          <p:cNvPr id="22" name="Text 20"/>
          <p:cNvSpPr txBox="1"/>
          <p:nvPr/>
        </p:nvSpPr>
        <p:spPr>
          <a:xfrm>
            <a:off x="7223760" y="2514600"/>
            <a:ext cx="1463040" cy="1737360"/>
          </a:xfrm>
          <a:prstGeom prst="rect">
            <a:avLst/>
          </a:prstGeom>
          <a:noFill/>
          <a:ln/>
        </p:spPr>
        <p:txBody>
          <a:bodyPr wrap="square" lIns="0" tIns="0" rIns="0" bIns="0" rtlCol="0" anchor="t"/>
          <a:lstStyle/>
          <a:p>
            <a:pPr indent="0" marL="0">
              <a:buNone/>
            </a:pPr>
            <a:r>
              <a:rPr lang="en-US" sz="1250" dirty="0">
                <a:solidFill>
                  <a:srgbClr val="0F2A33"/>
                </a:solidFill>
                <a:latin typeface="Calibri" pitchFamily="34" charset="0"/>
                <a:ea typeface="Calibri" pitchFamily="34" charset="-122"/>
                <a:cs typeface="Calibri" pitchFamily="34" charset="-120"/>
              </a:rPr>
              <a:t>Serve both models behind an API used by the web app</a:t>
            </a:r>
            <a:endParaRPr lang="en-US" sz="12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20040"/>
            <a:ext cx="8229600" cy="640080"/>
          </a:xfrm>
          <a:prstGeom prst="rect">
            <a:avLst/>
          </a:prstGeom>
          <a:noFill/>
          <a:ln/>
        </p:spPr>
        <p:txBody>
          <a:bodyPr wrap="square" lIns="0" tIns="0" rIns="0" bIns="0" rtlCol="0" anchor="t"/>
          <a:lstStyle/>
          <a:p>
            <a:pPr indent="0" marL="0">
              <a:buNone/>
            </a:pPr>
            <a:r>
              <a:rPr lang="en-US" sz="2800" b="1" dirty="0">
                <a:solidFill>
                  <a:srgbClr val="0F2A33"/>
                </a:solidFill>
                <a:latin typeface="Cambria" pitchFamily="34" charset="0"/>
                <a:ea typeface="Cambria" pitchFamily="34" charset="-122"/>
                <a:cs typeface="Cambria" pitchFamily="34" charset="-120"/>
              </a:rPr>
              <a:t>Technology Stack</a:t>
            </a:r>
            <a:endParaRPr lang="en-US" sz="2800" dirty="0"/>
          </a:p>
        </p:txBody>
      </p:sp>
      <p:sp>
        <p:nvSpPr>
          <p:cNvPr id="3" name="Shape 1"/>
          <p:cNvSpPr/>
          <p:nvPr/>
        </p:nvSpPr>
        <p:spPr>
          <a:xfrm>
            <a:off x="457200" y="960120"/>
            <a:ext cx="1005840" cy="45720"/>
          </a:xfrm>
          <a:prstGeom prst="rect">
            <a:avLst/>
          </a:prstGeom>
          <a:solidFill>
            <a:srgbClr val="C2410C"/>
          </a:solidFill>
          <a:ln w="12700">
            <a:solidFill>
              <a:srgbClr val="C2410C"/>
            </a:solidFill>
            <a:prstDash val="solid"/>
          </a:ln>
        </p:spPr>
      </p:sp>
      <p:sp>
        <p:nvSpPr>
          <p:cNvPr id="4" name="Shape 2"/>
          <p:cNvSpPr/>
          <p:nvPr/>
        </p:nvSpPr>
        <p:spPr>
          <a:xfrm>
            <a:off x="457200" y="1188720"/>
            <a:ext cx="4023360" cy="960120"/>
          </a:xfrm>
          <a:prstGeom prst="roundRect">
            <a:avLst>
              <a:gd name="adj" fmla="val 9524"/>
            </a:avLst>
          </a:prstGeom>
          <a:solidFill>
            <a:srgbClr val="E6F1F2"/>
          </a:solidFill>
          <a:ln w="12700">
            <a:solidFill>
              <a:srgbClr val="E6F1F2"/>
            </a:solidFill>
            <a:prstDash val="solid"/>
          </a:ln>
        </p:spPr>
      </p:sp>
      <p:sp>
        <p:nvSpPr>
          <p:cNvPr id="5" name="Text 3"/>
          <p:cNvSpPr txBox="1"/>
          <p:nvPr/>
        </p:nvSpPr>
        <p:spPr>
          <a:xfrm>
            <a:off x="640080" y="1280160"/>
            <a:ext cx="3657600" cy="320040"/>
          </a:xfrm>
          <a:prstGeom prst="rect">
            <a:avLst/>
          </a:prstGeom>
          <a:noFill/>
          <a:ln/>
        </p:spPr>
        <p:txBody>
          <a:bodyPr wrap="square" lIns="0" tIns="0" rIns="0" bIns="0" rtlCol="0" anchor="t"/>
          <a:lstStyle/>
          <a:p>
            <a:pPr indent="0" marL="0">
              <a:buNone/>
            </a:pPr>
            <a:r>
              <a:rPr lang="en-US" sz="1400" b="1" dirty="0">
                <a:solidFill>
                  <a:srgbClr val="0D6B73"/>
                </a:solidFill>
                <a:latin typeface="Cambria" pitchFamily="34" charset="0"/>
                <a:ea typeface="Cambria" pitchFamily="34" charset="-122"/>
                <a:cs typeface="Cambria" pitchFamily="34" charset="-120"/>
              </a:rPr>
              <a:t>Languages</a:t>
            </a:r>
            <a:endParaRPr lang="en-US" sz="1400" dirty="0"/>
          </a:p>
        </p:txBody>
      </p:sp>
      <p:sp>
        <p:nvSpPr>
          <p:cNvPr id="6" name="Text 4"/>
          <p:cNvSpPr txBox="1"/>
          <p:nvPr/>
        </p:nvSpPr>
        <p:spPr>
          <a:xfrm>
            <a:off x="640080" y="1627632"/>
            <a:ext cx="3657600" cy="457200"/>
          </a:xfrm>
          <a:prstGeom prst="rect">
            <a:avLst/>
          </a:prstGeom>
          <a:noFill/>
          <a:ln/>
        </p:spPr>
        <p:txBody>
          <a:bodyPr wrap="square" lIns="0" tIns="0" rIns="0" bIns="0" rtlCol="0" anchor="t"/>
          <a:lstStyle/>
          <a:p>
            <a:pPr indent="0" marL="0">
              <a:buNone/>
            </a:pPr>
            <a:r>
              <a:rPr lang="en-US" sz="1250" dirty="0">
                <a:solidFill>
                  <a:srgbClr val="0F2A33"/>
                </a:solidFill>
                <a:latin typeface="Calibri" pitchFamily="34" charset="0"/>
                <a:ea typeface="Calibri" pitchFamily="34" charset="-122"/>
                <a:cs typeface="Calibri" pitchFamily="34" charset="-120"/>
              </a:rPr>
              <a:t>Python, JavaScript, HTML/CSS</a:t>
            </a:r>
            <a:endParaRPr lang="en-US" sz="1250" dirty="0"/>
          </a:p>
        </p:txBody>
      </p:sp>
      <p:sp>
        <p:nvSpPr>
          <p:cNvPr id="7" name="Shape 5"/>
          <p:cNvSpPr/>
          <p:nvPr/>
        </p:nvSpPr>
        <p:spPr>
          <a:xfrm>
            <a:off x="4663440" y="1188720"/>
            <a:ext cx="4023360" cy="960120"/>
          </a:xfrm>
          <a:prstGeom prst="roundRect">
            <a:avLst>
              <a:gd name="adj" fmla="val 9524"/>
            </a:avLst>
          </a:prstGeom>
          <a:solidFill>
            <a:srgbClr val="E6F1F2"/>
          </a:solidFill>
          <a:ln w="12700">
            <a:solidFill>
              <a:srgbClr val="E6F1F2"/>
            </a:solidFill>
            <a:prstDash val="solid"/>
          </a:ln>
        </p:spPr>
      </p:sp>
      <p:sp>
        <p:nvSpPr>
          <p:cNvPr id="8" name="Text 6"/>
          <p:cNvSpPr txBox="1"/>
          <p:nvPr/>
        </p:nvSpPr>
        <p:spPr>
          <a:xfrm>
            <a:off x="4846320" y="1280160"/>
            <a:ext cx="3657600" cy="320040"/>
          </a:xfrm>
          <a:prstGeom prst="rect">
            <a:avLst/>
          </a:prstGeom>
          <a:noFill/>
          <a:ln/>
        </p:spPr>
        <p:txBody>
          <a:bodyPr wrap="square" lIns="0" tIns="0" rIns="0" bIns="0" rtlCol="0" anchor="t"/>
          <a:lstStyle/>
          <a:p>
            <a:pPr indent="0" marL="0">
              <a:buNone/>
            </a:pPr>
            <a:r>
              <a:rPr lang="en-US" sz="1400" b="1" dirty="0">
                <a:solidFill>
                  <a:srgbClr val="0D6B73"/>
                </a:solidFill>
                <a:latin typeface="Cambria" pitchFamily="34" charset="0"/>
                <a:ea typeface="Cambria" pitchFamily="34" charset="-122"/>
                <a:cs typeface="Cambria" pitchFamily="34" charset="-120"/>
              </a:rPr>
              <a:t>ML frameworks</a:t>
            </a:r>
            <a:endParaRPr lang="en-US" sz="1400" dirty="0"/>
          </a:p>
        </p:txBody>
      </p:sp>
      <p:sp>
        <p:nvSpPr>
          <p:cNvPr id="9" name="Text 7"/>
          <p:cNvSpPr txBox="1"/>
          <p:nvPr/>
        </p:nvSpPr>
        <p:spPr>
          <a:xfrm>
            <a:off x="4846320" y="1627632"/>
            <a:ext cx="3657600" cy="457200"/>
          </a:xfrm>
          <a:prstGeom prst="rect">
            <a:avLst/>
          </a:prstGeom>
          <a:noFill/>
          <a:ln/>
        </p:spPr>
        <p:txBody>
          <a:bodyPr wrap="square" lIns="0" tIns="0" rIns="0" bIns="0" rtlCol="0" anchor="t"/>
          <a:lstStyle/>
          <a:p>
            <a:pPr indent="0" marL="0">
              <a:buNone/>
            </a:pPr>
            <a:r>
              <a:rPr lang="en-US" sz="1250" dirty="0">
                <a:solidFill>
                  <a:srgbClr val="0F2A33"/>
                </a:solidFill>
                <a:latin typeface="Calibri" pitchFamily="34" charset="0"/>
                <a:ea typeface="Calibri" pitchFamily="34" charset="-122"/>
                <a:cs typeface="Calibri" pitchFamily="34" charset="-120"/>
              </a:rPr>
              <a:t>XGBoost, LightGBM, scikit-learn</a:t>
            </a:r>
            <a:endParaRPr lang="en-US" sz="1250" dirty="0"/>
          </a:p>
        </p:txBody>
      </p:sp>
      <p:sp>
        <p:nvSpPr>
          <p:cNvPr id="10" name="Shape 8"/>
          <p:cNvSpPr/>
          <p:nvPr/>
        </p:nvSpPr>
        <p:spPr>
          <a:xfrm>
            <a:off x="457200" y="2331720"/>
            <a:ext cx="4023360" cy="960120"/>
          </a:xfrm>
          <a:prstGeom prst="roundRect">
            <a:avLst>
              <a:gd name="adj" fmla="val 9524"/>
            </a:avLst>
          </a:prstGeom>
          <a:solidFill>
            <a:srgbClr val="E6F1F2"/>
          </a:solidFill>
          <a:ln w="12700">
            <a:solidFill>
              <a:srgbClr val="E6F1F2"/>
            </a:solidFill>
            <a:prstDash val="solid"/>
          </a:ln>
        </p:spPr>
      </p:sp>
      <p:sp>
        <p:nvSpPr>
          <p:cNvPr id="11" name="Text 9"/>
          <p:cNvSpPr txBox="1"/>
          <p:nvPr/>
        </p:nvSpPr>
        <p:spPr>
          <a:xfrm>
            <a:off x="640080" y="2423160"/>
            <a:ext cx="3657600" cy="320040"/>
          </a:xfrm>
          <a:prstGeom prst="rect">
            <a:avLst/>
          </a:prstGeom>
          <a:noFill/>
          <a:ln/>
        </p:spPr>
        <p:txBody>
          <a:bodyPr wrap="square" lIns="0" tIns="0" rIns="0" bIns="0" rtlCol="0" anchor="t"/>
          <a:lstStyle/>
          <a:p>
            <a:pPr indent="0" marL="0">
              <a:buNone/>
            </a:pPr>
            <a:r>
              <a:rPr lang="en-US" sz="1400" b="1" dirty="0">
                <a:solidFill>
                  <a:srgbClr val="0D6B73"/>
                </a:solidFill>
                <a:latin typeface="Cambria" pitchFamily="34" charset="0"/>
                <a:ea typeface="Cambria" pitchFamily="34" charset="-122"/>
                <a:cs typeface="Cambria" pitchFamily="34" charset="-120"/>
              </a:rPr>
              <a:t>Web / API</a:t>
            </a:r>
            <a:endParaRPr lang="en-US" sz="1400" dirty="0"/>
          </a:p>
        </p:txBody>
      </p:sp>
      <p:sp>
        <p:nvSpPr>
          <p:cNvPr id="12" name="Text 10"/>
          <p:cNvSpPr txBox="1"/>
          <p:nvPr/>
        </p:nvSpPr>
        <p:spPr>
          <a:xfrm>
            <a:off x="640080" y="2770632"/>
            <a:ext cx="3657600" cy="457200"/>
          </a:xfrm>
          <a:prstGeom prst="rect">
            <a:avLst/>
          </a:prstGeom>
          <a:noFill/>
          <a:ln/>
        </p:spPr>
        <p:txBody>
          <a:bodyPr wrap="square" lIns="0" tIns="0" rIns="0" bIns="0" rtlCol="0" anchor="t"/>
          <a:lstStyle/>
          <a:p>
            <a:pPr indent="0" marL="0">
              <a:buNone/>
            </a:pPr>
            <a:r>
              <a:rPr lang="en-US" sz="1250" dirty="0">
                <a:solidFill>
                  <a:srgbClr val="0F2A33"/>
                </a:solidFill>
                <a:latin typeface="Calibri" pitchFamily="34" charset="0"/>
                <a:ea typeface="Calibri" pitchFamily="34" charset="-122"/>
                <a:cs typeface="Calibri" pitchFamily="34" charset="-120"/>
              </a:rPr>
              <a:t>FastAPI for the prediction endpoint, pandas for data handling</a:t>
            </a:r>
            <a:endParaRPr lang="en-US" sz="1250" dirty="0"/>
          </a:p>
        </p:txBody>
      </p:sp>
      <p:sp>
        <p:nvSpPr>
          <p:cNvPr id="13" name="Shape 11"/>
          <p:cNvSpPr/>
          <p:nvPr/>
        </p:nvSpPr>
        <p:spPr>
          <a:xfrm>
            <a:off x="4663440" y="2331720"/>
            <a:ext cx="4023360" cy="960120"/>
          </a:xfrm>
          <a:prstGeom prst="roundRect">
            <a:avLst>
              <a:gd name="adj" fmla="val 9524"/>
            </a:avLst>
          </a:prstGeom>
          <a:solidFill>
            <a:srgbClr val="E6F1F2"/>
          </a:solidFill>
          <a:ln w="12700">
            <a:solidFill>
              <a:srgbClr val="E6F1F2"/>
            </a:solidFill>
            <a:prstDash val="solid"/>
          </a:ln>
        </p:spPr>
      </p:sp>
      <p:sp>
        <p:nvSpPr>
          <p:cNvPr id="14" name="Text 12"/>
          <p:cNvSpPr txBox="1"/>
          <p:nvPr/>
        </p:nvSpPr>
        <p:spPr>
          <a:xfrm>
            <a:off x="4846320" y="2423160"/>
            <a:ext cx="3657600" cy="320040"/>
          </a:xfrm>
          <a:prstGeom prst="rect">
            <a:avLst/>
          </a:prstGeom>
          <a:noFill/>
          <a:ln/>
        </p:spPr>
        <p:txBody>
          <a:bodyPr wrap="square" lIns="0" tIns="0" rIns="0" bIns="0" rtlCol="0" anchor="t"/>
          <a:lstStyle/>
          <a:p>
            <a:pPr indent="0" marL="0">
              <a:buNone/>
            </a:pPr>
            <a:r>
              <a:rPr lang="en-US" sz="1400" b="1" dirty="0">
                <a:solidFill>
                  <a:srgbClr val="0D6B73"/>
                </a:solidFill>
                <a:latin typeface="Cambria" pitchFamily="34" charset="0"/>
                <a:ea typeface="Cambria" pitchFamily="34" charset="-122"/>
                <a:cs typeface="Cambria" pitchFamily="34" charset="-120"/>
              </a:rPr>
              <a:t>Data &amp; storage</a:t>
            </a:r>
            <a:endParaRPr lang="en-US" sz="1400" dirty="0"/>
          </a:p>
        </p:txBody>
      </p:sp>
      <p:sp>
        <p:nvSpPr>
          <p:cNvPr id="15" name="Text 13"/>
          <p:cNvSpPr txBox="1"/>
          <p:nvPr/>
        </p:nvSpPr>
        <p:spPr>
          <a:xfrm>
            <a:off x="4846320" y="2770632"/>
            <a:ext cx="3657600" cy="457200"/>
          </a:xfrm>
          <a:prstGeom prst="rect">
            <a:avLst/>
          </a:prstGeom>
          <a:noFill/>
          <a:ln/>
        </p:spPr>
        <p:txBody>
          <a:bodyPr wrap="square" lIns="0" tIns="0" rIns="0" bIns="0" rtlCol="0" anchor="t"/>
          <a:lstStyle/>
          <a:p>
            <a:pPr indent="0" marL="0">
              <a:buNone/>
            </a:pPr>
            <a:r>
              <a:rPr lang="en-US" sz="1250" dirty="0">
                <a:solidFill>
                  <a:srgbClr val="0F2A33"/>
                </a:solidFill>
                <a:latin typeface="Calibri" pitchFamily="34" charset="0"/>
                <a:ea typeface="Calibri" pitchFamily="34" charset="-122"/>
                <a:cs typeface="Calibri" pitchFamily="34" charset="-120"/>
              </a:rPr>
              <a:t>UCI CKD CSV dataset; [SQLite / PostgreSQL] for patient records</a:t>
            </a:r>
            <a:endParaRPr lang="en-US" sz="1250" dirty="0"/>
          </a:p>
        </p:txBody>
      </p:sp>
      <p:sp>
        <p:nvSpPr>
          <p:cNvPr id="16" name="Shape 14"/>
          <p:cNvSpPr/>
          <p:nvPr/>
        </p:nvSpPr>
        <p:spPr>
          <a:xfrm>
            <a:off x="457200" y="3474720"/>
            <a:ext cx="4023360" cy="960120"/>
          </a:xfrm>
          <a:prstGeom prst="roundRect">
            <a:avLst>
              <a:gd name="adj" fmla="val 9524"/>
            </a:avLst>
          </a:prstGeom>
          <a:solidFill>
            <a:srgbClr val="E6F1F2"/>
          </a:solidFill>
          <a:ln w="12700">
            <a:solidFill>
              <a:srgbClr val="E6F1F2"/>
            </a:solidFill>
            <a:prstDash val="solid"/>
          </a:ln>
        </p:spPr>
      </p:sp>
      <p:sp>
        <p:nvSpPr>
          <p:cNvPr id="17" name="Text 15"/>
          <p:cNvSpPr txBox="1"/>
          <p:nvPr/>
        </p:nvSpPr>
        <p:spPr>
          <a:xfrm>
            <a:off x="640080" y="3566160"/>
            <a:ext cx="3657600" cy="320040"/>
          </a:xfrm>
          <a:prstGeom prst="rect">
            <a:avLst/>
          </a:prstGeom>
          <a:noFill/>
          <a:ln/>
        </p:spPr>
        <p:txBody>
          <a:bodyPr wrap="square" lIns="0" tIns="0" rIns="0" bIns="0" rtlCol="0" anchor="t"/>
          <a:lstStyle/>
          <a:p>
            <a:pPr indent="0" marL="0">
              <a:buNone/>
            </a:pPr>
            <a:r>
              <a:rPr lang="en-US" sz="1400" b="1" dirty="0">
                <a:solidFill>
                  <a:srgbClr val="0D6B73"/>
                </a:solidFill>
                <a:latin typeface="Cambria" pitchFamily="34" charset="0"/>
                <a:ea typeface="Cambria" pitchFamily="34" charset="-122"/>
                <a:cs typeface="Cambria" pitchFamily="34" charset="-120"/>
              </a:rPr>
              <a:t>Deployment</a:t>
            </a:r>
            <a:endParaRPr lang="en-US" sz="1400" dirty="0"/>
          </a:p>
        </p:txBody>
      </p:sp>
      <p:sp>
        <p:nvSpPr>
          <p:cNvPr id="18" name="Text 16"/>
          <p:cNvSpPr txBox="1"/>
          <p:nvPr/>
        </p:nvSpPr>
        <p:spPr>
          <a:xfrm>
            <a:off x="640080" y="3913632"/>
            <a:ext cx="3657600" cy="457200"/>
          </a:xfrm>
          <a:prstGeom prst="rect">
            <a:avLst/>
          </a:prstGeom>
          <a:noFill/>
          <a:ln/>
        </p:spPr>
        <p:txBody>
          <a:bodyPr wrap="square" lIns="0" tIns="0" rIns="0" bIns="0" rtlCol="0" anchor="t"/>
          <a:lstStyle/>
          <a:p>
            <a:pPr indent="0" marL="0">
              <a:buNone/>
            </a:pPr>
            <a:r>
              <a:rPr lang="en-US" sz="1250" dirty="0">
                <a:solidFill>
                  <a:srgbClr val="0F2A33"/>
                </a:solidFill>
                <a:latin typeface="Calibri" pitchFamily="34" charset="0"/>
                <a:ea typeface="Calibri" pitchFamily="34" charset="-122"/>
                <a:cs typeface="Calibri" pitchFamily="34" charset="-120"/>
              </a:rPr>
              <a:t>[Local server / cloud host, e.g. Render, AWS]</a:t>
            </a:r>
            <a:endParaRPr lang="en-US" sz="1250" dirty="0"/>
          </a:p>
        </p:txBody>
      </p:sp>
      <p:sp>
        <p:nvSpPr>
          <p:cNvPr id="19" name="Shape 17"/>
          <p:cNvSpPr/>
          <p:nvPr/>
        </p:nvSpPr>
        <p:spPr>
          <a:xfrm>
            <a:off x="4663440" y="3474720"/>
            <a:ext cx="4023360" cy="960120"/>
          </a:xfrm>
          <a:prstGeom prst="roundRect">
            <a:avLst>
              <a:gd name="adj" fmla="val 9524"/>
            </a:avLst>
          </a:prstGeom>
          <a:solidFill>
            <a:srgbClr val="E6F1F2"/>
          </a:solidFill>
          <a:ln w="12700">
            <a:solidFill>
              <a:srgbClr val="E6F1F2"/>
            </a:solidFill>
            <a:prstDash val="solid"/>
          </a:ln>
        </p:spPr>
      </p:sp>
      <p:sp>
        <p:nvSpPr>
          <p:cNvPr id="20" name="Text 18"/>
          <p:cNvSpPr txBox="1"/>
          <p:nvPr/>
        </p:nvSpPr>
        <p:spPr>
          <a:xfrm>
            <a:off x="4846320" y="3566160"/>
            <a:ext cx="3657600" cy="320040"/>
          </a:xfrm>
          <a:prstGeom prst="rect">
            <a:avLst/>
          </a:prstGeom>
          <a:noFill/>
          <a:ln/>
        </p:spPr>
        <p:txBody>
          <a:bodyPr wrap="square" lIns="0" tIns="0" rIns="0" bIns="0" rtlCol="0" anchor="t"/>
          <a:lstStyle/>
          <a:p>
            <a:pPr indent="0" marL="0">
              <a:buNone/>
            </a:pPr>
            <a:r>
              <a:rPr lang="en-US" sz="1400" b="1" dirty="0">
                <a:solidFill>
                  <a:srgbClr val="0D6B73"/>
                </a:solidFill>
                <a:latin typeface="Cambria" pitchFamily="34" charset="0"/>
                <a:ea typeface="Cambria" pitchFamily="34" charset="-122"/>
                <a:cs typeface="Cambria" pitchFamily="34" charset="-120"/>
              </a:rPr>
              <a:t>Dev tools</a:t>
            </a:r>
            <a:endParaRPr lang="en-US" sz="1400" dirty="0"/>
          </a:p>
        </p:txBody>
      </p:sp>
      <p:sp>
        <p:nvSpPr>
          <p:cNvPr id="21" name="Text 19"/>
          <p:cNvSpPr txBox="1"/>
          <p:nvPr/>
        </p:nvSpPr>
        <p:spPr>
          <a:xfrm>
            <a:off x="4846320" y="3913632"/>
            <a:ext cx="3657600" cy="457200"/>
          </a:xfrm>
          <a:prstGeom prst="rect">
            <a:avLst/>
          </a:prstGeom>
          <a:noFill/>
          <a:ln/>
        </p:spPr>
        <p:txBody>
          <a:bodyPr wrap="square" lIns="0" tIns="0" rIns="0" bIns="0" rtlCol="0" anchor="t"/>
          <a:lstStyle/>
          <a:p>
            <a:pPr indent="0" marL="0">
              <a:buNone/>
            </a:pPr>
            <a:r>
              <a:rPr lang="en-US" sz="1250" dirty="0">
                <a:solidFill>
                  <a:srgbClr val="0F2A33"/>
                </a:solidFill>
                <a:latin typeface="Calibri" pitchFamily="34" charset="0"/>
                <a:ea typeface="Calibri" pitchFamily="34" charset="-122"/>
                <a:cs typeface="Calibri" pitchFamily="34" charset="-120"/>
              </a:rPr>
              <a:t>joblib for model saving, Git for version control</a:t>
            </a:r>
            <a:endParaRPr lang="en-US" sz="12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20040"/>
            <a:ext cx="8229600" cy="640080"/>
          </a:xfrm>
          <a:prstGeom prst="rect">
            <a:avLst/>
          </a:prstGeom>
          <a:noFill/>
          <a:ln/>
        </p:spPr>
        <p:txBody>
          <a:bodyPr wrap="square" lIns="0" tIns="0" rIns="0" bIns="0" rtlCol="0" anchor="t"/>
          <a:lstStyle/>
          <a:p>
            <a:pPr indent="0" marL="0">
              <a:buNone/>
            </a:pPr>
            <a:r>
              <a:rPr lang="en-US" sz="2800" b="1" dirty="0">
                <a:solidFill>
                  <a:srgbClr val="0F2A33"/>
                </a:solidFill>
                <a:latin typeface="Cambria" pitchFamily="34" charset="0"/>
                <a:ea typeface="Cambria" pitchFamily="34" charset="-122"/>
                <a:cs typeface="Cambria" pitchFamily="34" charset="-120"/>
              </a:rPr>
              <a:t>System Modules / Components</a:t>
            </a:r>
            <a:endParaRPr lang="en-US" sz="2800" dirty="0"/>
          </a:p>
        </p:txBody>
      </p:sp>
      <p:sp>
        <p:nvSpPr>
          <p:cNvPr id="3" name="Shape 1"/>
          <p:cNvSpPr/>
          <p:nvPr/>
        </p:nvSpPr>
        <p:spPr>
          <a:xfrm>
            <a:off x="457200" y="960120"/>
            <a:ext cx="1005840" cy="45720"/>
          </a:xfrm>
          <a:prstGeom prst="rect">
            <a:avLst/>
          </a:prstGeom>
          <a:solidFill>
            <a:srgbClr val="C2410C"/>
          </a:solidFill>
          <a:ln w="12700">
            <a:solidFill>
              <a:srgbClr val="C2410C"/>
            </a:solidFill>
            <a:prstDash val="solid"/>
          </a:ln>
        </p:spPr>
      </p:sp>
      <p:sp>
        <p:nvSpPr>
          <p:cNvPr id="4" name="Shape 2"/>
          <p:cNvSpPr/>
          <p:nvPr/>
        </p:nvSpPr>
        <p:spPr>
          <a:xfrm>
            <a:off x="457200" y="1188720"/>
            <a:ext cx="2011680" cy="1508760"/>
          </a:xfrm>
          <a:prstGeom prst="roundRect">
            <a:avLst>
              <a:gd name="adj" fmla="val 6061"/>
            </a:avLst>
          </a:prstGeom>
          <a:solidFill>
            <a:srgbClr val="E6F1F2"/>
          </a:solidFill>
          <a:ln w="12700">
            <a:solidFill>
              <a:srgbClr val="E6F1F2"/>
            </a:solidFill>
            <a:prstDash val="solid"/>
          </a:ln>
        </p:spPr>
      </p:sp>
      <p:sp>
        <p:nvSpPr>
          <p:cNvPr id="5" name="Shape 3"/>
          <p:cNvSpPr/>
          <p:nvPr/>
        </p:nvSpPr>
        <p:spPr>
          <a:xfrm>
            <a:off x="621792" y="1353312"/>
            <a:ext cx="384048" cy="384048"/>
          </a:xfrm>
          <a:prstGeom prst="ellipse">
            <a:avLst/>
          </a:prstGeom>
          <a:solidFill>
            <a:srgbClr val="0D6B73"/>
          </a:solidFill>
          <a:ln w="12700">
            <a:solidFill>
              <a:srgbClr val="0D6B73"/>
            </a:solidFill>
            <a:prstDash val="solid"/>
          </a:ln>
        </p:spPr>
      </p:sp>
      <p:sp>
        <p:nvSpPr>
          <p:cNvPr id="6" name="Text 4"/>
          <p:cNvSpPr txBox="1"/>
          <p:nvPr/>
        </p:nvSpPr>
        <p:spPr>
          <a:xfrm>
            <a:off x="621792" y="1353312"/>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7" name="Text 5"/>
          <p:cNvSpPr txBox="1"/>
          <p:nvPr/>
        </p:nvSpPr>
        <p:spPr>
          <a:xfrm>
            <a:off x="594360" y="1810512"/>
            <a:ext cx="1783080" cy="320040"/>
          </a:xfrm>
          <a:prstGeom prst="rect">
            <a:avLst/>
          </a:prstGeom>
          <a:noFill/>
          <a:ln/>
        </p:spPr>
        <p:txBody>
          <a:bodyPr wrap="square" lIns="0" tIns="0" rIns="0" bIns="0" rtlCol="0" anchor="t"/>
          <a:lstStyle/>
          <a:p>
            <a:pPr indent="0" marL="0">
              <a:buNone/>
            </a:pPr>
            <a:r>
              <a:rPr lang="en-US" sz="1300" b="1" dirty="0">
                <a:solidFill>
                  <a:srgbClr val="0F2A33"/>
                </a:solidFill>
                <a:latin typeface="Cambria" pitchFamily="34" charset="0"/>
                <a:ea typeface="Cambria" pitchFamily="34" charset="-122"/>
                <a:cs typeface="Cambria" pitchFamily="34" charset="-120"/>
              </a:rPr>
              <a:t>UI</a:t>
            </a:r>
            <a:endParaRPr lang="en-US" sz="1300" dirty="0"/>
          </a:p>
        </p:txBody>
      </p:sp>
      <p:sp>
        <p:nvSpPr>
          <p:cNvPr id="8" name="Text 6"/>
          <p:cNvSpPr txBox="1"/>
          <p:nvPr/>
        </p:nvSpPr>
        <p:spPr>
          <a:xfrm>
            <a:off x="594360" y="2121408"/>
            <a:ext cx="1783080" cy="548640"/>
          </a:xfrm>
          <a:prstGeom prst="rect">
            <a:avLst/>
          </a:prstGeom>
          <a:noFill/>
          <a:ln/>
        </p:spPr>
        <p:txBody>
          <a:bodyPr wrap="square" lIns="0" tIns="0" rIns="0" bIns="0" rtlCol="0" anchor="t"/>
          <a:lstStyle/>
          <a:p>
            <a:pPr indent="0" marL="0">
              <a:buNone/>
            </a:pPr>
            <a:r>
              <a:rPr lang="en-US" sz="1050" dirty="0">
                <a:solidFill>
                  <a:srgbClr val="0F2A33"/>
                </a:solidFill>
                <a:latin typeface="Calibri" pitchFamily="34" charset="0"/>
                <a:ea typeface="Calibri" pitchFamily="34" charset="-122"/>
                <a:cs typeface="Calibri" pitchFamily="34" charset="-120"/>
              </a:rPr>
              <a:t>Login, home, people list and profile screens</a:t>
            </a:r>
            <a:endParaRPr lang="en-US" sz="1050" dirty="0"/>
          </a:p>
        </p:txBody>
      </p:sp>
      <p:sp>
        <p:nvSpPr>
          <p:cNvPr id="9" name="Shape 7"/>
          <p:cNvSpPr/>
          <p:nvPr/>
        </p:nvSpPr>
        <p:spPr>
          <a:xfrm>
            <a:off x="2606040" y="1188720"/>
            <a:ext cx="2011680" cy="1508760"/>
          </a:xfrm>
          <a:prstGeom prst="roundRect">
            <a:avLst>
              <a:gd name="adj" fmla="val 6061"/>
            </a:avLst>
          </a:prstGeom>
          <a:solidFill>
            <a:srgbClr val="E6F1F2"/>
          </a:solidFill>
          <a:ln w="12700">
            <a:solidFill>
              <a:srgbClr val="E6F1F2"/>
            </a:solidFill>
            <a:prstDash val="solid"/>
          </a:ln>
        </p:spPr>
      </p:sp>
      <p:sp>
        <p:nvSpPr>
          <p:cNvPr id="10" name="Shape 8"/>
          <p:cNvSpPr/>
          <p:nvPr/>
        </p:nvSpPr>
        <p:spPr>
          <a:xfrm>
            <a:off x="2770632" y="1353312"/>
            <a:ext cx="384048" cy="384048"/>
          </a:xfrm>
          <a:prstGeom prst="ellipse">
            <a:avLst/>
          </a:prstGeom>
          <a:solidFill>
            <a:srgbClr val="0D6B73"/>
          </a:solidFill>
          <a:ln w="12700">
            <a:solidFill>
              <a:srgbClr val="0D6B73"/>
            </a:solidFill>
            <a:prstDash val="solid"/>
          </a:ln>
        </p:spPr>
      </p:sp>
      <p:sp>
        <p:nvSpPr>
          <p:cNvPr id="11" name="Text 9"/>
          <p:cNvSpPr txBox="1"/>
          <p:nvPr/>
        </p:nvSpPr>
        <p:spPr>
          <a:xfrm>
            <a:off x="2770632" y="1353312"/>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2" name="Text 10"/>
          <p:cNvSpPr txBox="1"/>
          <p:nvPr/>
        </p:nvSpPr>
        <p:spPr>
          <a:xfrm>
            <a:off x="2743200" y="1810512"/>
            <a:ext cx="1783080" cy="320040"/>
          </a:xfrm>
          <a:prstGeom prst="rect">
            <a:avLst/>
          </a:prstGeom>
          <a:noFill/>
          <a:ln/>
        </p:spPr>
        <p:txBody>
          <a:bodyPr wrap="square" lIns="0" tIns="0" rIns="0" bIns="0" rtlCol="0" anchor="t"/>
          <a:lstStyle/>
          <a:p>
            <a:pPr indent="0" marL="0">
              <a:buNone/>
            </a:pPr>
            <a:r>
              <a:rPr lang="en-US" sz="1300" b="1" dirty="0">
                <a:solidFill>
                  <a:srgbClr val="0F2A33"/>
                </a:solidFill>
                <a:latin typeface="Cambria" pitchFamily="34" charset="0"/>
                <a:ea typeface="Cambria" pitchFamily="34" charset="-122"/>
                <a:cs typeface="Cambria" pitchFamily="34" charset="-120"/>
              </a:rPr>
              <a:t>Data collection</a:t>
            </a:r>
            <a:endParaRPr lang="en-US" sz="1300" dirty="0"/>
          </a:p>
        </p:txBody>
      </p:sp>
      <p:sp>
        <p:nvSpPr>
          <p:cNvPr id="13" name="Text 11"/>
          <p:cNvSpPr txBox="1"/>
          <p:nvPr/>
        </p:nvSpPr>
        <p:spPr>
          <a:xfrm>
            <a:off x="2743200" y="2121408"/>
            <a:ext cx="1783080" cy="548640"/>
          </a:xfrm>
          <a:prstGeom prst="rect">
            <a:avLst/>
          </a:prstGeom>
          <a:noFill/>
          <a:ln/>
        </p:spPr>
        <p:txBody>
          <a:bodyPr wrap="square" lIns="0" tIns="0" rIns="0" bIns="0" rtlCol="0" anchor="t"/>
          <a:lstStyle/>
          <a:p>
            <a:pPr indent="0" marL="0">
              <a:buNone/>
            </a:pPr>
            <a:r>
              <a:rPr lang="en-US" sz="1050" dirty="0">
                <a:solidFill>
                  <a:srgbClr val="0F2A33"/>
                </a:solidFill>
                <a:latin typeface="Calibri" pitchFamily="34" charset="0"/>
                <a:ea typeface="Calibri" pitchFamily="34" charset="-122"/>
                <a:cs typeface="Calibri" pitchFamily="34" charset="-120"/>
              </a:rPr>
              <a:t>Lab-value entry form on the screening page</a:t>
            </a:r>
            <a:endParaRPr lang="en-US" sz="1050" dirty="0"/>
          </a:p>
        </p:txBody>
      </p:sp>
      <p:sp>
        <p:nvSpPr>
          <p:cNvPr id="14" name="Shape 12"/>
          <p:cNvSpPr/>
          <p:nvPr/>
        </p:nvSpPr>
        <p:spPr>
          <a:xfrm>
            <a:off x="4754880" y="1188720"/>
            <a:ext cx="2011680" cy="1508760"/>
          </a:xfrm>
          <a:prstGeom prst="roundRect">
            <a:avLst>
              <a:gd name="adj" fmla="val 6061"/>
            </a:avLst>
          </a:prstGeom>
          <a:solidFill>
            <a:srgbClr val="E6F1F2"/>
          </a:solidFill>
          <a:ln w="12700">
            <a:solidFill>
              <a:srgbClr val="E6F1F2"/>
            </a:solidFill>
            <a:prstDash val="solid"/>
          </a:ln>
        </p:spPr>
      </p:sp>
      <p:sp>
        <p:nvSpPr>
          <p:cNvPr id="15" name="Shape 13"/>
          <p:cNvSpPr/>
          <p:nvPr/>
        </p:nvSpPr>
        <p:spPr>
          <a:xfrm>
            <a:off x="4919472" y="1353312"/>
            <a:ext cx="384048" cy="384048"/>
          </a:xfrm>
          <a:prstGeom prst="ellipse">
            <a:avLst/>
          </a:prstGeom>
          <a:solidFill>
            <a:srgbClr val="0D6B73"/>
          </a:solidFill>
          <a:ln w="12700">
            <a:solidFill>
              <a:srgbClr val="0D6B73"/>
            </a:solidFill>
            <a:prstDash val="solid"/>
          </a:ln>
        </p:spPr>
      </p:sp>
      <p:sp>
        <p:nvSpPr>
          <p:cNvPr id="16" name="Text 14"/>
          <p:cNvSpPr txBox="1"/>
          <p:nvPr/>
        </p:nvSpPr>
        <p:spPr>
          <a:xfrm>
            <a:off x="4919472" y="1353312"/>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17" name="Text 15"/>
          <p:cNvSpPr txBox="1"/>
          <p:nvPr/>
        </p:nvSpPr>
        <p:spPr>
          <a:xfrm>
            <a:off x="4892040" y="1810512"/>
            <a:ext cx="1783080" cy="320040"/>
          </a:xfrm>
          <a:prstGeom prst="rect">
            <a:avLst/>
          </a:prstGeom>
          <a:noFill/>
          <a:ln/>
        </p:spPr>
        <p:txBody>
          <a:bodyPr wrap="square" lIns="0" tIns="0" rIns="0" bIns="0" rtlCol="0" anchor="t"/>
          <a:lstStyle/>
          <a:p>
            <a:pPr indent="0" marL="0">
              <a:buNone/>
            </a:pPr>
            <a:r>
              <a:rPr lang="en-US" sz="1300" b="1" dirty="0">
                <a:solidFill>
                  <a:srgbClr val="0F2A33"/>
                </a:solidFill>
                <a:latin typeface="Cambria" pitchFamily="34" charset="0"/>
                <a:ea typeface="Cambria" pitchFamily="34" charset="-122"/>
                <a:cs typeface="Cambria" pitchFamily="34" charset="-120"/>
              </a:rPr>
              <a:t>Preprocessing</a:t>
            </a:r>
            <a:endParaRPr lang="en-US" sz="1300" dirty="0"/>
          </a:p>
        </p:txBody>
      </p:sp>
      <p:sp>
        <p:nvSpPr>
          <p:cNvPr id="18" name="Text 16"/>
          <p:cNvSpPr txBox="1"/>
          <p:nvPr/>
        </p:nvSpPr>
        <p:spPr>
          <a:xfrm>
            <a:off x="4892040" y="2121408"/>
            <a:ext cx="1783080" cy="548640"/>
          </a:xfrm>
          <a:prstGeom prst="rect">
            <a:avLst/>
          </a:prstGeom>
          <a:noFill/>
          <a:ln/>
        </p:spPr>
        <p:txBody>
          <a:bodyPr wrap="square" lIns="0" tIns="0" rIns="0" bIns="0" rtlCol="0" anchor="t"/>
          <a:lstStyle/>
          <a:p>
            <a:pPr indent="0" marL="0">
              <a:buNone/>
            </a:pPr>
            <a:r>
              <a:rPr lang="en-US" sz="1050" dirty="0">
                <a:solidFill>
                  <a:srgbClr val="0F2A33"/>
                </a:solidFill>
                <a:latin typeface="Calibri" pitchFamily="34" charset="0"/>
                <a:ea typeface="Calibri" pitchFamily="34" charset="-122"/>
                <a:cs typeface="Calibri" pitchFamily="34" charset="-120"/>
              </a:rPr>
              <a:t>Cleaning and encoding before scoring</a:t>
            </a:r>
            <a:endParaRPr lang="en-US" sz="1050" dirty="0"/>
          </a:p>
        </p:txBody>
      </p:sp>
      <p:sp>
        <p:nvSpPr>
          <p:cNvPr id="19" name="Shape 17"/>
          <p:cNvSpPr/>
          <p:nvPr/>
        </p:nvSpPr>
        <p:spPr>
          <a:xfrm>
            <a:off x="6903720" y="1188720"/>
            <a:ext cx="2011680" cy="1508760"/>
          </a:xfrm>
          <a:prstGeom prst="roundRect">
            <a:avLst>
              <a:gd name="adj" fmla="val 6061"/>
            </a:avLst>
          </a:prstGeom>
          <a:solidFill>
            <a:srgbClr val="E6F1F2"/>
          </a:solidFill>
          <a:ln w="12700">
            <a:solidFill>
              <a:srgbClr val="E6F1F2"/>
            </a:solidFill>
            <a:prstDash val="solid"/>
          </a:ln>
        </p:spPr>
      </p:sp>
      <p:sp>
        <p:nvSpPr>
          <p:cNvPr id="20" name="Shape 18"/>
          <p:cNvSpPr/>
          <p:nvPr/>
        </p:nvSpPr>
        <p:spPr>
          <a:xfrm>
            <a:off x="7068312" y="1353312"/>
            <a:ext cx="384048" cy="384048"/>
          </a:xfrm>
          <a:prstGeom prst="ellipse">
            <a:avLst/>
          </a:prstGeom>
          <a:solidFill>
            <a:srgbClr val="0D6B73"/>
          </a:solidFill>
          <a:ln w="12700">
            <a:solidFill>
              <a:srgbClr val="0D6B73"/>
            </a:solidFill>
            <a:prstDash val="solid"/>
          </a:ln>
        </p:spPr>
      </p:sp>
      <p:sp>
        <p:nvSpPr>
          <p:cNvPr id="21" name="Text 19"/>
          <p:cNvSpPr txBox="1"/>
          <p:nvPr/>
        </p:nvSpPr>
        <p:spPr>
          <a:xfrm>
            <a:off x="7068312" y="1353312"/>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22" name="Text 20"/>
          <p:cNvSpPr txBox="1"/>
          <p:nvPr/>
        </p:nvSpPr>
        <p:spPr>
          <a:xfrm>
            <a:off x="7040880" y="1810512"/>
            <a:ext cx="1783080" cy="320040"/>
          </a:xfrm>
          <a:prstGeom prst="rect">
            <a:avLst/>
          </a:prstGeom>
          <a:noFill/>
          <a:ln/>
        </p:spPr>
        <p:txBody>
          <a:bodyPr wrap="square" lIns="0" tIns="0" rIns="0" bIns="0" rtlCol="0" anchor="t"/>
          <a:lstStyle/>
          <a:p>
            <a:pPr indent="0" marL="0">
              <a:buNone/>
            </a:pPr>
            <a:r>
              <a:rPr lang="en-US" sz="1300" b="1" dirty="0">
                <a:solidFill>
                  <a:srgbClr val="0F2A33"/>
                </a:solidFill>
                <a:latin typeface="Cambria" pitchFamily="34" charset="0"/>
                <a:ea typeface="Cambria" pitchFamily="34" charset="-122"/>
                <a:cs typeface="Cambria" pitchFamily="34" charset="-120"/>
              </a:rPr>
              <a:t>ML module</a:t>
            </a:r>
            <a:endParaRPr lang="en-US" sz="1300" dirty="0"/>
          </a:p>
        </p:txBody>
      </p:sp>
      <p:sp>
        <p:nvSpPr>
          <p:cNvPr id="23" name="Text 21"/>
          <p:cNvSpPr txBox="1"/>
          <p:nvPr/>
        </p:nvSpPr>
        <p:spPr>
          <a:xfrm>
            <a:off x="7040880" y="2121408"/>
            <a:ext cx="1783080" cy="548640"/>
          </a:xfrm>
          <a:prstGeom prst="rect">
            <a:avLst/>
          </a:prstGeom>
          <a:noFill/>
          <a:ln/>
        </p:spPr>
        <p:txBody>
          <a:bodyPr wrap="square" lIns="0" tIns="0" rIns="0" bIns="0" rtlCol="0" anchor="t"/>
          <a:lstStyle/>
          <a:p>
            <a:pPr indent="0" marL="0">
              <a:buNone/>
            </a:pPr>
            <a:r>
              <a:rPr lang="en-US" sz="1050" dirty="0">
                <a:solidFill>
                  <a:srgbClr val="0F2A33"/>
                </a:solidFill>
                <a:latin typeface="Calibri" pitchFamily="34" charset="0"/>
                <a:ea typeface="Calibri" pitchFamily="34" charset="-122"/>
                <a:cs typeface="Calibri" pitchFamily="34" charset="-120"/>
              </a:rPr>
              <a:t>XGBoost and LightGBM inference</a:t>
            </a:r>
            <a:endParaRPr lang="en-US" sz="1050" dirty="0"/>
          </a:p>
        </p:txBody>
      </p:sp>
      <p:sp>
        <p:nvSpPr>
          <p:cNvPr id="24" name="Shape 22"/>
          <p:cNvSpPr/>
          <p:nvPr/>
        </p:nvSpPr>
        <p:spPr>
          <a:xfrm>
            <a:off x="457200" y="2880360"/>
            <a:ext cx="2011680" cy="1508760"/>
          </a:xfrm>
          <a:prstGeom prst="roundRect">
            <a:avLst>
              <a:gd name="adj" fmla="val 6061"/>
            </a:avLst>
          </a:prstGeom>
          <a:solidFill>
            <a:srgbClr val="E6F1F2"/>
          </a:solidFill>
          <a:ln w="12700">
            <a:solidFill>
              <a:srgbClr val="E6F1F2"/>
            </a:solidFill>
            <a:prstDash val="solid"/>
          </a:ln>
        </p:spPr>
      </p:sp>
      <p:sp>
        <p:nvSpPr>
          <p:cNvPr id="25" name="Shape 23"/>
          <p:cNvSpPr/>
          <p:nvPr/>
        </p:nvSpPr>
        <p:spPr>
          <a:xfrm>
            <a:off x="621792" y="3044952"/>
            <a:ext cx="384048" cy="384048"/>
          </a:xfrm>
          <a:prstGeom prst="ellipse">
            <a:avLst/>
          </a:prstGeom>
          <a:solidFill>
            <a:srgbClr val="0D6B73"/>
          </a:solidFill>
          <a:ln w="12700">
            <a:solidFill>
              <a:srgbClr val="0D6B73"/>
            </a:solidFill>
            <a:prstDash val="solid"/>
          </a:ln>
        </p:spPr>
      </p:sp>
      <p:sp>
        <p:nvSpPr>
          <p:cNvPr id="26" name="Text 24"/>
          <p:cNvSpPr txBox="1"/>
          <p:nvPr/>
        </p:nvSpPr>
        <p:spPr>
          <a:xfrm>
            <a:off x="621792" y="3044952"/>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5</a:t>
            </a:r>
            <a:endParaRPr lang="en-US" sz="1300" dirty="0"/>
          </a:p>
        </p:txBody>
      </p:sp>
      <p:sp>
        <p:nvSpPr>
          <p:cNvPr id="27" name="Text 25"/>
          <p:cNvSpPr txBox="1"/>
          <p:nvPr/>
        </p:nvSpPr>
        <p:spPr>
          <a:xfrm>
            <a:off x="594360" y="3502152"/>
            <a:ext cx="1783080" cy="320040"/>
          </a:xfrm>
          <a:prstGeom prst="rect">
            <a:avLst/>
          </a:prstGeom>
          <a:noFill/>
          <a:ln/>
        </p:spPr>
        <p:txBody>
          <a:bodyPr wrap="square" lIns="0" tIns="0" rIns="0" bIns="0" rtlCol="0" anchor="t"/>
          <a:lstStyle/>
          <a:p>
            <a:pPr indent="0" marL="0">
              <a:buNone/>
            </a:pPr>
            <a:r>
              <a:rPr lang="en-US" sz="1300" b="1" dirty="0">
                <a:solidFill>
                  <a:srgbClr val="0F2A33"/>
                </a:solidFill>
                <a:latin typeface="Cambria" pitchFamily="34" charset="0"/>
                <a:ea typeface="Cambria" pitchFamily="34" charset="-122"/>
                <a:cs typeface="Cambria" pitchFamily="34" charset="-120"/>
              </a:rPr>
              <a:t>Database</a:t>
            </a:r>
            <a:endParaRPr lang="en-US" sz="1300" dirty="0"/>
          </a:p>
        </p:txBody>
      </p:sp>
      <p:sp>
        <p:nvSpPr>
          <p:cNvPr id="28" name="Text 26"/>
          <p:cNvSpPr txBox="1"/>
          <p:nvPr/>
        </p:nvSpPr>
        <p:spPr>
          <a:xfrm>
            <a:off x="594360" y="3813048"/>
            <a:ext cx="1783080" cy="548640"/>
          </a:xfrm>
          <a:prstGeom prst="rect">
            <a:avLst/>
          </a:prstGeom>
          <a:noFill/>
          <a:ln/>
        </p:spPr>
        <p:txBody>
          <a:bodyPr wrap="square" lIns="0" tIns="0" rIns="0" bIns="0" rtlCol="0" anchor="t"/>
          <a:lstStyle/>
          <a:p>
            <a:pPr indent="0" marL="0">
              <a:buNone/>
            </a:pPr>
            <a:r>
              <a:rPr lang="en-US" sz="1050" dirty="0">
                <a:solidFill>
                  <a:srgbClr val="0F2A33"/>
                </a:solidFill>
                <a:latin typeface="Calibri" pitchFamily="34" charset="0"/>
                <a:ea typeface="Calibri" pitchFamily="34" charset="-122"/>
                <a:cs typeface="Calibri" pitchFamily="34" charset="-120"/>
              </a:rPr>
              <a:t>Stores patient records and screening history</a:t>
            </a:r>
            <a:endParaRPr lang="en-US" sz="1050" dirty="0"/>
          </a:p>
        </p:txBody>
      </p:sp>
      <p:sp>
        <p:nvSpPr>
          <p:cNvPr id="29" name="Shape 27"/>
          <p:cNvSpPr/>
          <p:nvPr/>
        </p:nvSpPr>
        <p:spPr>
          <a:xfrm>
            <a:off x="2606040" y="2880360"/>
            <a:ext cx="2011680" cy="1508760"/>
          </a:xfrm>
          <a:prstGeom prst="roundRect">
            <a:avLst>
              <a:gd name="adj" fmla="val 6061"/>
            </a:avLst>
          </a:prstGeom>
          <a:solidFill>
            <a:srgbClr val="E6F1F2"/>
          </a:solidFill>
          <a:ln w="12700">
            <a:solidFill>
              <a:srgbClr val="E6F1F2"/>
            </a:solidFill>
            <a:prstDash val="solid"/>
          </a:ln>
        </p:spPr>
      </p:sp>
      <p:sp>
        <p:nvSpPr>
          <p:cNvPr id="30" name="Shape 28"/>
          <p:cNvSpPr/>
          <p:nvPr/>
        </p:nvSpPr>
        <p:spPr>
          <a:xfrm>
            <a:off x="2770632" y="3044952"/>
            <a:ext cx="384048" cy="384048"/>
          </a:xfrm>
          <a:prstGeom prst="ellipse">
            <a:avLst/>
          </a:prstGeom>
          <a:solidFill>
            <a:srgbClr val="0D6B73"/>
          </a:solidFill>
          <a:ln w="12700">
            <a:solidFill>
              <a:srgbClr val="0D6B73"/>
            </a:solidFill>
            <a:prstDash val="solid"/>
          </a:ln>
        </p:spPr>
      </p:sp>
      <p:sp>
        <p:nvSpPr>
          <p:cNvPr id="31" name="Text 29"/>
          <p:cNvSpPr txBox="1"/>
          <p:nvPr/>
        </p:nvSpPr>
        <p:spPr>
          <a:xfrm>
            <a:off x="2770632" y="3044952"/>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6</a:t>
            </a:r>
            <a:endParaRPr lang="en-US" sz="1300" dirty="0"/>
          </a:p>
        </p:txBody>
      </p:sp>
      <p:sp>
        <p:nvSpPr>
          <p:cNvPr id="32" name="Text 30"/>
          <p:cNvSpPr txBox="1"/>
          <p:nvPr/>
        </p:nvSpPr>
        <p:spPr>
          <a:xfrm>
            <a:off x="2743200" y="3502152"/>
            <a:ext cx="1783080" cy="320040"/>
          </a:xfrm>
          <a:prstGeom prst="rect">
            <a:avLst/>
          </a:prstGeom>
          <a:noFill/>
          <a:ln/>
        </p:spPr>
        <p:txBody>
          <a:bodyPr wrap="square" lIns="0" tIns="0" rIns="0" bIns="0" rtlCol="0" anchor="t"/>
          <a:lstStyle/>
          <a:p>
            <a:pPr indent="0" marL="0">
              <a:buNone/>
            </a:pPr>
            <a:r>
              <a:rPr lang="en-US" sz="1300" b="1" dirty="0">
                <a:solidFill>
                  <a:srgbClr val="0F2A33"/>
                </a:solidFill>
                <a:latin typeface="Cambria" pitchFamily="34" charset="0"/>
                <a:ea typeface="Cambria" pitchFamily="34" charset="-122"/>
                <a:cs typeface="Cambria" pitchFamily="34" charset="-120"/>
              </a:rPr>
              <a:t>Prediction module</a:t>
            </a:r>
            <a:endParaRPr lang="en-US" sz="1300" dirty="0"/>
          </a:p>
        </p:txBody>
      </p:sp>
      <p:sp>
        <p:nvSpPr>
          <p:cNvPr id="33" name="Text 31"/>
          <p:cNvSpPr txBox="1"/>
          <p:nvPr/>
        </p:nvSpPr>
        <p:spPr>
          <a:xfrm>
            <a:off x="2743200" y="3813048"/>
            <a:ext cx="1783080" cy="548640"/>
          </a:xfrm>
          <a:prstGeom prst="rect">
            <a:avLst/>
          </a:prstGeom>
          <a:noFill/>
          <a:ln/>
        </p:spPr>
        <p:txBody>
          <a:bodyPr wrap="square" lIns="0" tIns="0" rIns="0" bIns="0" rtlCol="0" anchor="t"/>
          <a:lstStyle/>
          <a:p>
            <a:pPr indent="0" marL="0">
              <a:buNone/>
            </a:pPr>
            <a:r>
              <a:rPr lang="en-US" sz="1050" dirty="0">
                <a:solidFill>
                  <a:srgbClr val="0F2A33"/>
                </a:solidFill>
                <a:latin typeface="Calibri" pitchFamily="34" charset="0"/>
                <a:ea typeface="Calibri" pitchFamily="34" charset="-122"/>
                <a:cs typeface="Calibri" pitchFamily="34" charset="-120"/>
              </a:rPr>
              <a:t>Combines both model scores into a verdict</a:t>
            </a:r>
            <a:endParaRPr lang="en-US" sz="1050" dirty="0"/>
          </a:p>
        </p:txBody>
      </p:sp>
      <p:sp>
        <p:nvSpPr>
          <p:cNvPr id="34" name="Shape 32"/>
          <p:cNvSpPr/>
          <p:nvPr/>
        </p:nvSpPr>
        <p:spPr>
          <a:xfrm>
            <a:off x="4754880" y="2880360"/>
            <a:ext cx="2011680" cy="1508760"/>
          </a:xfrm>
          <a:prstGeom prst="roundRect">
            <a:avLst>
              <a:gd name="adj" fmla="val 6061"/>
            </a:avLst>
          </a:prstGeom>
          <a:solidFill>
            <a:srgbClr val="E6F1F2"/>
          </a:solidFill>
          <a:ln w="12700">
            <a:solidFill>
              <a:srgbClr val="E6F1F2"/>
            </a:solidFill>
            <a:prstDash val="solid"/>
          </a:ln>
        </p:spPr>
      </p:sp>
      <p:sp>
        <p:nvSpPr>
          <p:cNvPr id="35" name="Shape 33"/>
          <p:cNvSpPr/>
          <p:nvPr/>
        </p:nvSpPr>
        <p:spPr>
          <a:xfrm>
            <a:off x="4919472" y="3044952"/>
            <a:ext cx="384048" cy="384048"/>
          </a:xfrm>
          <a:prstGeom prst="ellipse">
            <a:avLst/>
          </a:prstGeom>
          <a:solidFill>
            <a:srgbClr val="0D6B73"/>
          </a:solidFill>
          <a:ln w="12700">
            <a:solidFill>
              <a:srgbClr val="0D6B73"/>
            </a:solidFill>
            <a:prstDash val="solid"/>
          </a:ln>
        </p:spPr>
      </p:sp>
      <p:sp>
        <p:nvSpPr>
          <p:cNvPr id="36" name="Text 34"/>
          <p:cNvSpPr txBox="1"/>
          <p:nvPr/>
        </p:nvSpPr>
        <p:spPr>
          <a:xfrm>
            <a:off x="4919472" y="3044952"/>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7</a:t>
            </a:r>
            <a:endParaRPr lang="en-US" sz="1300" dirty="0"/>
          </a:p>
        </p:txBody>
      </p:sp>
      <p:sp>
        <p:nvSpPr>
          <p:cNvPr id="37" name="Text 35"/>
          <p:cNvSpPr txBox="1"/>
          <p:nvPr/>
        </p:nvSpPr>
        <p:spPr>
          <a:xfrm>
            <a:off x="4892040" y="3502152"/>
            <a:ext cx="1783080" cy="320040"/>
          </a:xfrm>
          <a:prstGeom prst="rect">
            <a:avLst/>
          </a:prstGeom>
          <a:noFill/>
          <a:ln/>
        </p:spPr>
        <p:txBody>
          <a:bodyPr wrap="square" lIns="0" tIns="0" rIns="0" bIns="0" rtlCol="0" anchor="t"/>
          <a:lstStyle/>
          <a:p>
            <a:pPr indent="0" marL="0">
              <a:buNone/>
            </a:pPr>
            <a:r>
              <a:rPr lang="en-US" sz="1300" b="1" dirty="0">
                <a:solidFill>
                  <a:srgbClr val="0F2A33"/>
                </a:solidFill>
                <a:latin typeface="Cambria" pitchFamily="34" charset="0"/>
                <a:ea typeface="Cambria" pitchFamily="34" charset="-122"/>
                <a:cs typeface="Cambria" pitchFamily="34" charset="-120"/>
              </a:rPr>
              <a:t>Visualization</a:t>
            </a:r>
            <a:endParaRPr lang="en-US" sz="1300" dirty="0"/>
          </a:p>
        </p:txBody>
      </p:sp>
      <p:sp>
        <p:nvSpPr>
          <p:cNvPr id="38" name="Text 36"/>
          <p:cNvSpPr txBox="1"/>
          <p:nvPr/>
        </p:nvSpPr>
        <p:spPr>
          <a:xfrm>
            <a:off x="4892040" y="3813048"/>
            <a:ext cx="1783080" cy="548640"/>
          </a:xfrm>
          <a:prstGeom prst="rect">
            <a:avLst/>
          </a:prstGeom>
          <a:noFill/>
          <a:ln/>
        </p:spPr>
        <p:txBody>
          <a:bodyPr wrap="square" lIns="0" tIns="0" rIns="0" bIns="0" rtlCol="0" anchor="t"/>
          <a:lstStyle/>
          <a:p>
            <a:pPr indent="0" marL="0">
              <a:buNone/>
            </a:pPr>
            <a:r>
              <a:rPr lang="en-US" sz="1050" dirty="0">
                <a:solidFill>
                  <a:srgbClr val="0F2A33"/>
                </a:solidFill>
                <a:latin typeface="Calibri" pitchFamily="34" charset="0"/>
                <a:ea typeface="Calibri" pitchFamily="34" charset="-122"/>
                <a:cs typeface="Calibri" pitchFamily="34" charset="-120"/>
              </a:rPr>
              <a:t>Risk bars, tags and trend tables</a:t>
            </a:r>
            <a:endParaRPr lang="en-US" sz="1050" dirty="0"/>
          </a:p>
        </p:txBody>
      </p:sp>
      <p:sp>
        <p:nvSpPr>
          <p:cNvPr id="39" name="Shape 37"/>
          <p:cNvSpPr/>
          <p:nvPr/>
        </p:nvSpPr>
        <p:spPr>
          <a:xfrm>
            <a:off x="6903720" y="2880360"/>
            <a:ext cx="2011680" cy="1508760"/>
          </a:xfrm>
          <a:prstGeom prst="roundRect">
            <a:avLst>
              <a:gd name="adj" fmla="val 6061"/>
            </a:avLst>
          </a:prstGeom>
          <a:solidFill>
            <a:srgbClr val="E6F1F2"/>
          </a:solidFill>
          <a:ln w="12700">
            <a:solidFill>
              <a:srgbClr val="E6F1F2"/>
            </a:solidFill>
            <a:prstDash val="solid"/>
          </a:ln>
        </p:spPr>
      </p:sp>
      <p:sp>
        <p:nvSpPr>
          <p:cNvPr id="40" name="Shape 38"/>
          <p:cNvSpPr/>
          <p:nvPr/>
        </p:nvSpPr>
        <p:spPr>
          <a:xfrm>
            <a:off x="7068312" y="3044952"/>
            <a:ext cx="384048" cy="384048"/>
          </a:xfrm>
          <a:prstGeom prst="ellipse">
            <a:avLst/>
          </a:prstGeom>
          <a:solidFill>
            <a:srgbClr val="0D6B73"/>
          </a:solidFill>
          <a:ln w="12700">
            <a:solidFill>
              <a:srgbClr val="0D6B73"/>
            </a:solidFill>
            <a:prstDash val="solid"/>
          </a:ln>
        </p:spPr>
      </p:sp>
      <p:sp>
        <p:nvSpPr>
          <p:cNvPr id="41" name="Text 39"/>
          <p:cNvSpPr txBox="1"/>
          <p:nvPr/>
        </p:nvSpPr>
        <p:spPr>
          <a:xfrm>
            <a:off x="7068312" y="3044952"/>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8</a:t>
            </a:r>
            <a:endParaRPr lang="en-US" sz="1300" dirty="0"/>
          </a:p>
        </p:txBody>
      </p:sp>
      <p:sp>
        <p:nvSpPr>
          <p:cNvPr id="42" name="Text 40"/>
          <p:cNvSpPr txBox="1"/>
          <p:nvPr/>
        </p:nvSpPr>
        <p:spPr>
          <a:xfrm>
            <a:off x="7040880" y="3502152"/>
            <a:ext cx="1783080" cy="320040"/>
          </a:xfrm>
          <a:prstGeom prst="rect">
            <a:avLst/>
          </a:prstGeom>
          <a:noFill/>
          <a:ln/>
        </p:spPr>
        <p:txBody>
          <a:bodyPr wrap="square" lIns="0" tIns="0" rIns="0" bIns="0" rtlCol="0" anchor="t"/>
          <a:lstStyle/>
          <a:p>
            <a:pPr indent="0" marL="0">
              <a:buNone/>
            </a:pPr>
            <a:r>
              <a:rPr lang="en-US" sz="1300" b="1" dirty="0">
                <a:solidFill>
                  <a:srgbClr val="0F2A33"/>
                </a:solidFill>
                <a:latin typeface="Cambria" pitchFamily="34" charset="0"/>
                <a:ea typeface="Cambria" pitchFamily="34" charset="-122"/>
                <a:cs typeface="Cambria" pitchFamily="34" charset="-120"/>
              </a:rPr>
              <a:t>Authentication</a:t>
            </a:r>
            <a:endParaRPr lang="en-US" sz="1300" dirty="0"/>
          </a:p>
        </p:txBody>
      </p:sp>
      <p:sp>
        <p:nvSpPr>
          <p:cNvPr id="43" name="Text 41"/>
          <p:cNvSpPr txBox="1"/>
          <p:nvPr/>
        </p:nvSpPr>
        <p:spPr>
          <a:xfrm>
            <a:off x="7040880" y="3813048"/>
            <a:ext cx="1783080" cy="548640"/>
          </a:xfrm>
          <a:prstGeom prst="rect">
            <a:avLst/>
          </a:prstGeom>
          <a:noFill/>
          <a:ln/>
        </p:spPr>
        <p:txBody>
          <a:bodyPr wrap="square" lIns="0" tIns="0" rIns="0" bIns="0" rtlCol="0" anchor="t"/>
          <a:lstStyle/>
          <a:p>
            <a:pPr indent="0" marL="0">
              <a:buNone/>
            </a:pPr>
            <a:r>
              <a:rPr lang="en-US" sz="1050" dirty="0">
                <a:solidFill>
                  <a:srgbClr val="0F2A33"/>
                </a:solidFill>
                <a:latin typeface="Calibri" pitchFamily="34" charset="0"/>
                <a:ea typeface="Calibri" pitchFamily="34" charset="-122"/>
                <a:cs typeface="Calibri" pitchFamily="34" charset="-120"/>
              </a:rPr>
              <a:t>Login and session handling for clinicians</a:t>
            </a:r>
            <a:endParaRPr lang="en-US" sz="10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20040"/>
            <a:ext cx="8229600" cy="640080"/>
          </a:xfrm>
          <a:prstGeom prst="rect">
            <a:avLst/>
          </a:prstGeom>
          <a:noFill/>
          <a:ln/>
        </p:spPr>
        <p:txBody>
          <a:bodyPr wrap="square" lIns="0" tIns="0" rIns="0" bIns="0" rtlCol="0" anchor="t"/>
          <a:lstStyle/>
          <a:p>
            <a:pPr indent="0" marL="0">
              <a:buNone/>
            </a:pPr>
            <a:r>
              <a:rPr lang="en-US" sz="2800" b="1" dirty="0">
                <a:solidFill>
                  <a:srgbClr val="0F2A33"/>
                </a:solidFill>
                <a:latin typeface="Cambria" pitchFamily="34" charset="0"/>
                <a:ea typeface="Cambria" pitchFamily="34" charset="-122"/>
                <a:cs typeface="Cambria" pitchFamily="34" charset="-120"/>
              </a:rPr>
              <a:t>Implementation</a:t>
            </a:r>
            <a:endParaRPr lang="en-US" sz="2800" dirty="0"/>
          </a:p>
        </p:txBody>
      </p:sp>
      <p:sp>
        <p:nvSpPr>
          <p:cNvPr id="3" name="Shape 1"/>
          <p:cNvSpPr/>
          <p:nvPr/>
        </p:nvSpPr>
        <p:spPr>
          <a:xfrm>
            <a:off x="457200" y="960120"/>
            <a:ext cx="1005840" cy="45720"/>
          </a:xfrm>
          <a:prstGeom prst="rect">
            <a:avLst/>
          </a:prstGeom>
          <a:solidFill>
            <a:srgbClr val="C2410C"/>
          </a:solidFill>
          <a:ln w="12700">
            <a:solidFill>
              <a:srgbClr val="C2410C"/>
            </a:solidFill>
            <a:prstDash val="solid"/>
          </a:ln>
        </p:spPr>
      </p:sp>
      <p:sp>
        <p:nvSpPr>
          <p:cNvPr id="4" name="Text 2"/>
          <p:cNvSpPr txBox="1"/>
          <p:nvPr/>
        </p:nvSpPr>
        <p:spPr>
          <a:xfrm>
            <a:off x="457200" y="1143000"/>
            <a:ext cx="8229600" cy="320040"/>
          </a:xfrm>
          <a:prstGeom prst="rect">
            <a:avLst/>
          </a:prstGeom>
          <a:noFill/>
          <a:ln/>
        </p:spPr>
        <p:txBody>
          <a:bodyPr wrap="square" lIns="0" tIns="0" rIns="0" bIns="0" rtlCol="0" anchor="t"/>
          <a:lstStyle/>
          <a:p>
            <a:pPr indent="0" marL="0">
              <a:buNone/>
            </a:pPr>
            <a:r>
              <a:rPr lang="en-US" sz="1500" b="1" dirty="0">
                <a:solidFill>
                  <a:srgbClr val="0D6B73"/>
                </a:solidFill>
                <a:latin typeface="Cambria" pitchFamily="34" charset="0"/>
                <a:ea typeface="Cambria" pitchFamily="34" charset="-122"/>
                <a:cs typeface="Cambria" pitchFamily="34" charset="-120"/>
              </a:rPr>
              <a:t>Important steps</a:t>
            </a:r>
            <a:endParaRPr lang="en-US" sz="1500" dirty="0"/>
          </a:p>
        </p:txBody>
      </p:sp>
      <p:sp>
        <p:nvSpPr>
          <p:cNvPr id="5" name="Text 3"/>
          <p:cNvSpPr txBox="1"/>
          <p:nvPr/>
        </p:nvSpPr>
        <p:spPr>
          <a:xfrm>
            <a:off x="457200" y="1463040"/>
            <a:ext cx="4023360" cy="3017520"/>
          </a:xfrm>
          <a:prstGeom prst="rect">
            <a:avLst/>
          </a:prstGeom>
          <a:noFill/>
          <a:ln/>
        </p:spPr>
        <p:txBody>
          <a:bodyPr wrap="square" lIns="0" tIns="0" rIns="0" bIns="0" rtlCol="0" anchor="t"/>
          <a:lstStyle/>
          <a:p>
            <a:pPr marL="342900" indent="-342900">
              <a:spcAft>
                <a:spcPts val="900"/>
              </a:spcAft>
              <a:buSzPct val="100000"/>
              <a:buChar char="•"/>
            </a:pPr>
            <a:r>
              <a:rPr lang="en-US" sz="1350" dirty="0">
                <a:solidFill>
                  <a:srgbClr val="0F2A33"/>
                </a:solidFill>
                <a:latin typeface="Calibri" pitchFamily="34" charset="0"/>
                <a:ea typeface="Calibri" pitchFamily="34" charset="-122"/>
                <a:cs typeface="Calibri" pitchFamily="34" charset="-120"/>
              </a:rPr>
              <a:t>Loaded and cleaned the UCI CKD dataset in pandas.</a:t>
            </a:r>
            <a:endParaRPr lang="en-US" sz="1350" dirty="0"/>
          </a:p>
          <a:p>
            <a:pPr marL="342900" indent="-342900">
              <a:spcAft>
                <a:spcPts val="900"/>
              </a:spcAft>
              <a:buSzPct val="100000"/>
              <a:buChar char="•"/>
            </a:pPr>
            <a:r>
              <a:rPr lang="en-US" sz="1350" dirty="0">
                <a:solidFill>
                  <a:srgbClr val="0F2A33"/>
                </a:solidFill>
                <a:latin typeface="Calibri" pitchFamily="34" charset="0"/>
                <a:ea typeface="Calibri" pitchFamily="34" charset="-122"/>
                <a:cs typeface="Calibri" pitchFamily="34" charset="-120"/>
              </a:rPr>
              <a:t>One-hot encoded categorical columns and imputed missing numeric values with the median.</a:t>
            </a:r>
            <a:endParaRPr lang="en-US" sz="1350" dirty="0"/>
          </a:p>
          <a:p>
            <a:pPr marL="342900" indent="-342900">
              <a:spcAft>
                <a:spcPts val="900"/>
              </a:spcAft>
              <a:buSzPct val="100000"/>
              <a:buChar char="•"/>
            </a:pPr>
            <a:r>
              <a:rPr lang="en-US" sz="1350" dirty="0">
                <a:solidFill>
                  <a:srgbClr val="0F2A33"/>
                </a:solidFill>
                <a:latin typeface="Calibri" pitchFamily="34" charset="0"/>
                <a:ea typeface="Calibri" pitchFamily="34" charset="-122"/>
                <a:cs typeface="Calibri" pitchFamily="34" charset="-120"/>
              </a:rPr>
              <a:t>Trained XGBoost and LightGBM with stratified 5-fold cross-validation.</a:t>
            </a:r>
            <a:endParaRPr lang="en-US" sz="1350" dirty="0"/>
          </a:p>
          <a:p>
            <a:pPr marL="342900" indent="-342900">
              <a:spcAft>
                <a:spcPts val="900"/>
              </a:spcAft>
              <a:buSzPct val="100000"/>
              <a:buChar char="•"/>
            </a:pPr>
            <a:r>
              <a:rPr lang="en-US" sz="1350" dirty="0">
                <a:solidFill>
                  <a:srgbClr val="0F2A33"/>
                </a:solidFill>
                <a:latin typeface="Calibri" pitchFamily="34" charset="0"/>
                <a:ea typeface="Calibri" pitchFamily="34" charset="-122"/>
                <a:cs typeface="Calibri" pitchFamily="34" charset="-120"/>
              </a:rPr>
              <a:t>Saved both models with joblib and wrapped them in a FastAPI /predict endpoint.</a:t>
            </a:r>
            <a:endParaRPr lang="en-US" sz="1350" dirty="0"/>
          </a:p>
          <a:p>
            <a:pPr marL="342900" indent="-342900">
              <a:spcAft>
                <a:spcPts val="900"/>
              </a:spcAft>
              <a:buSzPct val="100000"/>
              <a:buChar char="•"/>
            </a:pPr>
            <a:r>
              <a:rPr lang="en-US" sz="1350" dirty="0">
                <a:solidFill>
                  <a:srgbClr val="0F2A33"/>
                </a:solidFill>
                <a:latin typeface="Calibri" pitchFamily="34" charset="0"/>
                <a:ea typeface="Calibri" pitchFamily="34" charset="-122"/>
                <a:cs typeface="Calibri" pitchFamily="34" charset="-120"/>
              </a:rPr>
              <a:t>Connected the endpoint to the screening form so both scores update live.</a:t>
            </a:r>
            <a:endParaRPr lang="en-US" sz="1350" dirty="0"/>
          </a:p>
        </p:txBody>
      </p:sp>
      <p:sp>
        <p:nvSpPr>
          <p:cNvPr id="6" name="Shape 4"/>
          <p:cNvSpPr/>
          <p:nvPr/>
        </p:nvSpPr>
        <p:spPr>
          <a:xfrm>
            <a:off x="4754880" y="1463040"/>
            <a:ext cx="3931920" cy="3017520"/>
          </a:xfrm>
          <a:prstGeom prst="roundRect">
            <a:avLst>
              <a:gd name="adj" fmla="val 3030"/>
            </a:avLst>
          </a:prstGeom>
          <a:solidFill>
            <a:srgbClr val="0F2A33"/>
          </a:solidFill>
          <a:ln w="12700">
            <a:solidFill>
              <a:srgbClr val="0F2A33"/>
            </a:solidFill>
            <a:prstDash val="solid"/>
          </a:ln>
        </p:spPr>
      </p:sp>
      <p:sp>
        <p:nvSpPr>
          <p:cNvPr id="7" name="Text 5"/>
          <p:cNvSpPr txBox="1"/>
          <p:nvPr/>
        </p:nvSpPr>
        <p:spPr>
          <a:xfrm>
            <a:off x="4983480" y="1691640"/>
            <a:ext cx="3474720" cy="1828800"/>
          </a:xfrm>
          <a:prstGeom prst="rect">
            <a:avLst/>
          </a:prstGeom>
          <a:noFill/>
          <a:ln/>
        </p:spPr>
        <p:txBody>
          <a:bodyPr wrap="square" lIns="0" tIns="0" rIns="0" bIns="0" rtlCol="0" anchor="t"/>
          <a:lstStyle/>
          <a:p>
            <a:pPr indent="0" marL="0">
              <a:buNone/>
            </a:pPr>
            <a:r>
              <a:rPr lang="en-US" sz="1250" dirty="0">
                <a:solidFill>
                  <a:srgbClr val="E6F1F2"/>
                </a:solidFill>
                <a:latin typeface="Consolas" pitchFamily="34" charset="0"/>
                <a:ea typeface="Consolas" pitchFamily="34" charset="-122"/>
                <a:cs typeface="Consolas" pitchFamily="34" charset="-120"/>
              </a:rPr>
              <a:t>predict(record):</a:t>
            </a:r>
            <a:endParaRPr lang="en-US" sz="1250" dirty="0"/>
          </a:p>
          <a:p>
            <a:pPr indent="0" marL="0">
              <a:buNone/>
            </a:pPr>
            <a:r>
              <a:rPr lang="en-US" sz="1250" dirty="0">
                <a:solidFill>
                  <a:srgbClr val="E6F1F2"/>
                </a:solidFill>
                <a:latin typeface="Consolas" pitchFamily="34" charset="0"/>
                <a:ea typeface="Consolas" pitchFamily="34" charset="-122"/>
                <a:cs typeface="Consolas" pitchFamily="34" charset="-120"/>
              </a:rPr>
              <a:t>  row = reindex(record, feature_columns)</a:t>
            </a:r>
            <a:endParaRPr lang="en-US" sz="1250" dirty="0"/>
          </a:p>
          <a:p>
            <a:pPr indent="0" marL="0">
              <a:buNone/>
            </a:pPr>
            <a:r>
              <a:rPr lang="en-US" sz="1250" dirty="0">
                <a:solidFill>
                  <a:srgbClr val="E6F1F2"/>
                </a:solidFill>
                <a:latin typeface="Consolas" pitchFamily="34" charset="0"/>
                <a:ea typeface="Consolas" pitchFamily="34" charset="-122"/>
                <a:cs typeface="Consolas" pitchFamily="34" charset="-120"/>
              </a:rPr>
              <a:t>  xgb_score  = xgb_model.predict_proba(row)[1]</a:t>
            </a:r>
            <a:endParaRPr lang="en-US" sz="1250" dirty="0"/>
          </a:p>
          <a:p>
            <a:pPr indent="0" marL="0">
              <a:buNone/>
            </a:pPr>
            <a:r>
              <a:rPr lang="en-US" sz="1250" dirty="0">
                <a:solidFill>
                  <a:srgbClr val="E6F1F2"/>
                </a:solidFill>
                <a:latin typeface="Consolas" pitchFamily="34" charset="0"/>
                <a:ea typeface="Consolas" pitchFamily="34" charset="-122"/>
                <a:cs typeface="Consolas" pitchFamily="34" charset="-120"/>
              </a:rPr>
              <a:t>  lgbm_score = lgbm_model.predict_proba(row)[1]</a:t>
            </a:r>
            <a:endParaRPr lang="en-US" sz="1250" dirty="0"/>
          </a:p>
          <a:p>
            <a:pPr indent="0" marL="0">
              <a:buNone/>
            </a:pPr>
            <a:r>
              <a:rPr lang="en-US" sz="1250" dirty="0">
                <a:solidFill>
                  <a:srgbClr val="E6F1F2"/>
                </a:solidFill>
                <a:latin typeface="Consolas" pitchFamily="34" charset="0"/>
                <a:ea typeface="Consolas" pitchFamily="34" charset="-122"/>
                <a:cs typeface="Consolas" pitchFamily="34" charset="-120"/>
              </a:rPr>
              <a:t>  return { xgb_score, lgbm_score }</a:t>
            </a:r>
            <a:endParaRPr lang="en-US" sz="1250" dirty="0"/>
          </a:p>
        </p:txBody>
      </p:sp>
      <p:sp>
        <p:nvSpPr>
          <p:cNvPr id="8" name="Text 6"/>
          <p:cNvSpPr txBox="1"/>
          <p:nvPr/>
        </p:nvSpPr>
        <p:spPr>
          <a:xfrm>
            <a:off x="4983480" y="3749040"/>
            <a:ext cx="3474720" cy="548640"/>
          </a:xfrm>
          <a:prstGeom prst="rect">
            <a:avLst/>
          </a:prstGeom>
          <a:noFill/>
          <a:ln/>
        </p:spPr>
        <p:txBody>
          <a:bodyPr wrap="square" lIns="0" tIns="0" rIns="0" bIns="0" rtlCol="0" anchor="t"/>
          <a:lstStyle/>
          <a:p>
            <a:pPr indent="0" marL="0">
              <a:buNone/>
            </a:pPr>
            <a:r>
              <a:rPr lang="en-US" sz="1100" i="1" dirty="0">
                <a:solidFill>
                  <a:srgbClr val="9FD3D8"/>
                </a:solidFill>
                <a:latin typeface="Calibri" pitchFamily="34" charset="0"/>
                <a:ea typeface="Calibri" pitchFamily="34" charset="-122"/>
                <a:cs typeface="Calibri" pitchFamily="34" charset="-120"/>
              </a:rPr>
              <a:t>[Insert a real code screenshot or output log here]</a:t>
            </a:r>
            <a:endParaRPr lang="en-US" sz="11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20040"/>
            <a:ext cx="8229600" cy="640080"/>
          </a:xfrm>
          <a:prstGeom prst="rect">
            <a:avLst/>
          </a:prstGeom>
          <a:noFill/>
          <a:ln/>
        </p:spPr>
        <p:txBody>
          <a:bodyPr wrap="square" lIns="0" tIns="0" rIns="0" bIns="0" rtlCol="0" anchor="t"/>
          <a:lstStyle/>
          <a:p>
            <a:pPr indent="0" marL="0">
              <a:buNone/>
            </a:pPr>
            <a:r>
              <a:rPr lang="en-US" sz="2800" b="1" dirty="0">
                <a:solidFill>
                  <a:srgbClr val="0F2A33"/>
                </a:solidFill>
                <a:latin typeface="Cambria" pitchFamily="34" charset="0"/>
                <a:ea typeface="Cambria" pitchFamily="34" charset="-122"/>
                <a:cs typeface="Cambria" pitchFamily="34" charset="-120"/>
              </a:rPr>
              <a:t>Dataset / Input Data</a:t>
            </a:r>
            <a:endParaRPr lang="en-US" sz="2800" dirty="0"/>
          </a:p>
        </p:txBody>
      </p:sp>
      <p:sp>
        <p:nvSpPr>
          <p:cNvPr id="3" name="Shape 1"/>
          <p:cNvSpPr/>
          <p:nvPr/>
        </p:nvSpPr>
        <p:spPr>
          <a:xfrm>
            <a:off x="457200" y="960120"/>
            <a:ext cx="1005840" cy="45720"/>
          </a:xfrm>
          <a:prstGeom prst="rect">
            <a:avLst/>
          </a:prstGeom>
          <a:solidFill>
            <a:srgbClr val="C2410C"/>
          </a:solidFill>
          <a:ln w="12700">
            <a:solidFill>
              <a:srgbClr val="C2410C"/>
            </a:solidFill>
            <a:prstDash val="solid"/>
          </a:ln>
        </p:spPr>
      </p:sp>
      <p:sp>
        <p:nvSpPr>
          <p:cNvPr id="4" name="Shape 2"/>
          <p:cNvSpPr/>
          <p:nvPr/>
        </p:nvSpPr>
        <p:spPr>
          <a:xfrm>
            <a:off x="457200" y="1188720"/>
            <a:ext cx="1325880" cy="1097280"/>
          </a:xfrm>
          <a:prstGeom prst="roundRect">
            <a:avLst>
              <a:gd name="adj" fmla="val 8333"/>
            </a:avLst>
          </a:prstGeom>
          <a:solidFill>
            <a:srgbClr val="E6F1F2"/>
          </a:solidFill>
          <a:ln w="12700">
            <a:solidFill>
              <a:srgbClr val="E6F1F2"/>
            </a:solidFill>
            <a:prstDash val="solid"/>
          </a:ln>
        </p:spPr>
      </p:sp>
      <p:sp>
        <p:nvSpPr>
          <p:cNvPr id="5" name="Text 3"/>
          <p:cNvSpPr txBox="1"/>
          <p:nvPr/>
        </p:nvSpPr>
        <p:spPr>
          <a:xfrm>
            <a:off x="457200" y="1280160"/>
            <a:ext cx="1325880" cy="548640"/>
          </a:xfrm>
          <a:prstGeom prst="rect">
            <a:avLst/>
          </a:prstGeom>
          <a:noFill/>
          <a:ln/>
        </p:spPr>
        <p:txBody>
          <a:bodyPr wrap="square" lIns="0" tIns="0" rIns="0" bIns="0" rtlCol="0" anchor="t"/>
          <a:lstStyle/>
          <a:p>
            <a:pPr algn="ctr" indent="0" marL="0">
              <a:buNone/>
            </a:pPr>
            <a:r>
              <a:rPr lang="en-US" sz="3000" b="1" dirty="0">
                <a:solidFill>
                  <a:srgbClr val="0D6B73"/>
                </a:solidFill>
                <a:latin typeface="Cambria" pitchFamily="34" charset="0"/>
                <a:ea typeface="Cambria" pitchFamily="34" charset="-122"/>
                <a:cs typeface="Cambria" pitchFamily="34" charset="-120"/>
              </a:rPr>
              <a:t>400</a:t>
            </a:r>
            <a:endParaRPr lang="en-US" sz="3000" dirty="0"/>
          </a:p>
        </p:txBody>
      </p:sp>
      <p:sp>
        <p:nvSpPr>
          <p:cNvPr id="6" name="Text 4"/>
          <p:cNvSpPr txBox="1"/>
          <p:nvPr/>
        </p:nvSpPr>
        <p:spPr>
          <a:xfrm>
            <a:off x="457200" y="1828800"/>
            <a:ext cx="1325880" cy="411480"/>
          </a:xfrm>
          <a:prstGeom prst="rect">
            <a:avLst/>
          </a:prstGeom>
          <a:noFill/>
          <a:ln/>
        </p:spPr>
        <p:txBody>
          <a:bodyPr wrap="square" lIns="0" tIns="0" rIns="0" bIns="0" rtlCol="0" anchor="t"/>
          <a:lstStyle/>
          <a:p>
            <a:pPr algn="ctr" indent="0" marL="0">
              <a:buNone/>
            </a:pPr>
            <a:r>
              <a:rPr lang="en-US" sz="1050" dirty="0">
                <a:solidFill>
                  <a:srgbClr val="5A7580"/>
                </a:solidFill>
                <a:latin typeface="Calibri" pitchFamily="34" charset="0"/>
                <a:ea typeface="Calibri" pitchFamily="34" charset="-122"/>
                <a:cs typeface="Calibri" pitchFamily="34" charset="-120"/>
              </a:rPr>
              <a:t>patient records</a:t>
            </a:r>
            <a:endParaRPr lang="en-US" sz="1050" dirty="0"/>
          </a:p>
        </p:txBody>
      </p:sp>
      <p:sp>
        <p:nvSpPr>
          <p:cNvPr id="7" name="Shape 5"/>
          <p:cNvSpPr/>
          <p:nvPr/>
        </p:nvSpPr>
        <p:spPr>
          <a:xfrm>
            <a:off x="1920240" y="1188720"/>
            <a:ext cx="1325880" cy="1097280"/>
          </a:xfrm>
          <a:prstGeom prst="roundRect">
            <a:avLst>
              <a:gd name="adj" fmla="val 8333"/>
            </a:avLst>
          </a:prstGeom>
          <a:solidFill>
            <a:srgbClr val="E6F1F2"/>
          </a:solidFill>
          <a:ln w="12700">
            <a:solidFill>
              <a:srgbClr val="E6F1F2"/>
            </a:solidFill>
            <a:prstDash val="solid"/>
          </a:ln>
        </p:spPr>
      </p:sp>
      <p:sp>
        <p:nvSpPr>
          <p:cNvPr id="8" name="Text 6"/>
          <p:cNvSpPr txBox="1"/>
          <p:nvPr/>
        </p:nvSpPr>
        <p:spPr>
          <a:xfrm>
            <a:off x="1920240" y="1280160"/>
            <a:ext cx="1325880" cy="548640"/>
          </a:xfrm>
          <a:prstGeom prst="rect">
            <a:avLst/>
          </a:prstGeom>
          <a:noFill/>
          <a:ln/>
        </p:spPr>
        <p:txBody>
          <a:bodyPr wrap="square" lIns="0" tIns="0" rIns="0" bIns="0" rtlCol="0" anchor="t"/>
          <a:lstStyle/>
          <a:p>
            <a:pPr algn="ctr" indent="0" marL="0">
              <a:buNone/>
            </a:pPr>
            <a:r>
              <a:rPr lang="en-US" sz="3000" b="1" dirty="0">
                <a:solidFill>
                  <a:srgbClr val="0D6B73"/>
                </a:solidFill>
                <a:latin typeface="Cambria" pitchFamily="34" charset="0"/>
                <a:ea typeface="Cambria" pitchFamily="34" charset="-122"/>
                <a:cs typeface="Cambria" pitchFamily="34" charset="-120"/>
              </a:rPr>
              <a:t>24</a:t>
            </a:r>
            <a:endParaRPr lang="en-US" sz="3000" dirty="0"/>
          </a:p>
        </p:txBody>
      </p:sp>
      <p:sp>
        <p:nvSpPr>
          <p:cNvPr id="9" name="Text 7"/>
          <p:cNvSpPr txBox="1"/>
          <p:nvPr/>
        </p:nvSpPr>
        <p:spPr>
          <a:xfrm>
            <a:off x="1920240" y="1828800"/>
            <a:ext cx="1325880" cy="411480"/>
          </a:xfrm>
          <a:prstGeom prst="rect">
            <a:avLst/>
          </a:prstGeom>
          <a:noFill/>
          <a:ln/>
        </p:spPr>
        <p:txBody>
          <a:bodyPr wrap="square" lIns="0" tIns="0" rIns="0" bIns="0" rtlCol="0" anchor="t"/>
          <a:lstStyle/>
          <a:p>
            <a:pPr algn="ctr" indent="0" marL="0">
              <a:buNone/>
            </a:pPr>
            <a:r>
              <a:rPr lang="en-US" sz="1050" dirty="0">
                <a:solidFill>
                  <a:srgbClr val="5A7580"/>
                </a:solidFill>
                <a:latin typeface="Calibri" pitchFamily="34" charset="0"/>
                <a:ea typeface="Calibri" pitchFamily="34" charset="-122"/>
                <a:cs typeface="Calibri" pitchFamily="34" charset="-120"/>
              </a:rPr>
              <a:t>attributes</a:t>
            </a:r>
            <a:endParaRPr lang="en-US" sz="1050" dirty="0"/>
          </a:p>
        </p:txBody>
      </p:sp>
      <p:sp>
        <p:nvSpPr>
          <p:cNvPr id="10" name="Shape 8"/>
          <p:cNvSpPr/>
          <p:nvPr/>
        </p:nvSpPr>
        <p:spPr>
          <a:xfrm>
            <a:off x="3383280" y="1188720"/>
            <a:ext cx="1325880" cy="1097280"/>
          </a:xfrm>
          <a:prstGeom prst="roundRect">
            <a:avLst>
              <a:gd name="adj" fmla="val 8333"/>
            </a:avLst>
          </a:prstGeom>
          <a:solidFill>
            <a:srgbClr val="E6F1F2"/>
          </a:solidFill>
          <a:ln w="12700">
            <a:solidFill>
              <a:srgbClr val="E6F1F2"/>
            </a:solidFill>
            <a:prstDash val="solid"/>
          </a:ln>
        </p:spPr>
      </p:sp>
      <p:sp>
        <p:nvSpPr>
          <p:cNvPr id="11" name="Text 9"/>
          <p:cNvSpPr txBox="1"/>
          <p:nvPr/>
        </p:nvSpPr>
        <p:spPr>
          <a:xfrm>
            <a:off x="3383280" y="1280160"/>
            <a:ext cx="1325880" cy="548640"/>
          </a:xfrm>
          <a:prstGeom prst="rect">
            <a:avLst/>
          </a:prstGeom>
          <a:noFill/>
          <a:ln/>
        </p:spPr>
        <p:txBody>
          <a:bodyPr wrap="square" lIns="0" tIns="0" rIns="0" bIns="0" rtlCol="0" anchor="t"/>
          <a:lstStyle/>
          <a:p>
            <a:pPr algn="ctr" indent="0" marL="0">
              <a:buNone/>
            </a:pPr>
            <a:r>
              <a:rPr lang="en-US" sz="3000" b="1" dirty="0">
                <a:solidFill>
                  <a:srgbClr val="0D6B73"/>
                </a:solidFill>
                <a:latin typeface="Cambria" pitchFamily="34" charset="0"/>
                <a:ea typeface="Cambria" pitchFamily="34" charset="-122"/>
                <a:cs typeface="Cambria" pitchFamily="34" charset="-120"/>
              </a:rPr>
              <a:t>2</a:t>
            </a:r>
            <a:endParaRPr lang="en-US" sz="3000" dirty="0"/>
          </a:p>
        </p:txBody>
      </p:sp>
      <p:sp>
        <p:nvSpPr>
          <p:cNvPr id="12" name="Text 10"/>
          <p:cNvSpPr txBox="1"/>
          <p:nvPr/>
        </p:nvSpPr>
        <p:spPr>
          <a:xfrm>
            <a:off x="3383280" y="1828800"/>
            <a:ext cx="1325880" cy="411480"/>
          </a:xfrm>
          <a:prstGeom prst="rect">
            <a:avLst/>
          </a:prstGeom>
          <a:noFill/>
          <a:ln/>
        </p:spPr>
        <p:txBody>
          <a:bodyPr wrap="square" lIns="0" tIns="0" rIns="0" bIns="0" rtlCol="0" anchor="t"/>
          <a:lstStyle/>
          <a:p>
            <a:pPr algn="ctr" indent="0" marL="0">
              <a:buNone/>
            </a:pPr>
            <a:r>
              <a:rPr lang="en-US" sz="1050" dirty="0">
                <a:solidFill>
                  <a:srgbClr val="5A7580"/>
                </a:solidFill>
                <a:latin typeface="Calibri" pitchFamily="34" charset="0"/>
                <a:ea typeface="Calibri" pitchFamily="34" charset="-122"/>
                <a:cs typeface="Calibri" pitchFamily="34" charset="-120"/>
              </a:rPr>
              <a:t>classes: ckd / not ckd</a:t>
            </a:r>
            <a:endParaRPr lang="en-US" sz="1050" dirty="0"/>
          </a:p>
        </p:txBody>
      </p:sp>
      <p:sp>
        <p:nvSpPr>
          <p:cNvPr id="13" name="Text 11"/>
          <p:cNvSpPr txBox="1"/>
          <p:nvPr/>
        </p:nvSpPr>
        <p:spPr>
          <a:xfrm>
            <a:off x="4846320" y="1188720"/>
            <a:ext cx="3840480" cy="1737360"/>
          </a:xfrm>
          <a:prstGeom prst="rect">
            <a:avLst/>
          </a:prstGeom>
          <a:noFill/>
          <a:ln/>
        </p:spPr>
        <p:txBody>
          <a:bodyPr wrap="square" lIns="0" tIns="0" rIns="0" bIns="0" rtlCol="0" anchor="t"/>
          <a:lstStyle/>
          <a:p>
            <a:pPr indent="0" marL="0">
              <a:spcAft>
                <a:spcPts val="800"/>
              </a:spcAft>
              <a:buNone/>
            </a:pPr>
            <a:r>
              <a:rPr lang="en-US" sz="1350" b="1" dirty="0">
                <a:solidFill>
                  <a:srgbClr val="0F2A33"/>
                </a:solidFill>
                <a:latin typeface="Calibri" pitchFamily="34" charset="0"/>
                <a:ea typeface="Calibri" pitchFamily="34" charset="-122"/>
                <a:cs typeface="Calibri" pitchFamily="34" charset="-120"/>
              </a:rPr>
              <a:t>Dataset: </a:t>
            </a:r>
            <a:pPr indent="0" marL="0">
              <a:spcAft>
                <a:spcPts val="800"/>
              </a:spcAft>
              <a:buNone/>
            </a:pPr>
            <a:r>
              <a:rPr lang="en-US" sz="1350" dirty="0">
                <a:solidFill>
                  <a:srgbClr val="0F2A33"/>
                </a:solidFill>
                <a:latin typeface="Calibri" pitchFamily="34" charset="0"/>
                <a:ea typeface="Calibri" pitchFamily="34" charset="-122"/>
                <a:cs typeface="Calibri" pitchFamily="34" charset="-120"/>
              </a:rPr>
              <a:t>UCI Chronic Kidney Disease dataset</a:t>
            </a:r>
            <a:pPr indent="0" marL="0">
              <a:spcAft>
                <a:spcPts val="800"/>
              </a:spcAft>
              <a:buNone/>
            </a:pPr>
            <a:r>
              <a:rPr lang="en-US" sz="1350" b="1" dirty="0">
                <a:solidFill>
                  <a:srgbClr val="0F2A33"/>
                </a:solidFill>
                <a:latin typeface="Calibri" pitchFamily="34" charset="0"/>
                <a:ea typeface="Calibri" pitchFamily="34" charset="-122"/>
                <a:cs typeface="Calibri" pitchFamily="34" charset="-120"/>
              </a:rPr>
              <a:t>Feature groups: </a:t>
            </a:r>
            <a:pPr indent="0" marL="0">
              <a:spcAft>
                <a:spcPts val="800"/>
              </a:spcAft>
              <a:buNone/>
            </a:pPr>
            <a:r>
              <a:rPr lang="en-US" sz="1350" dirty="0">
                <a:solidFill>
                  <a:srgbClr val="0F2A33"/>
                </a:solidFill>
                <a:latin typeface="Calibri" pitchFamily="34" charset="0"/>
                <a:ea typeface="Calibri" pitchFamily="34" charset="-122"/>
                <a:cs typeface="Calibri" pitchFamily="34" charset="-120"/>
              </a:rPr>
              <a:t>vitals, urine tests, blood tests, history flags</a:t>
            </a:r>
            <a:pPr indent="0" marL="0">
              <a:spcAft>
                <a:spcPts val="800"/>
              </a:spcAft>
              <a:buNone/>
            </a:pPr>
            <a:r>
              <a:rPr lang="en-US" sz="1350" b="1" dirty="0">
                <a:solidFill>
                  <a:srgbClr val="0F2A33"/>
                </a:solidFill>
                <a:latin typeface="Calibri" pitchFamily="34" charset="0"/>
                <a:ea typeface="Calibri" pitchFamily="34" charset="-122"/>
                <a:cs typeface="Calibri" pitchFamily="34" charset="-120"/>
              </a:rPr>
              <a:t>Preprocessing: </a:t>
            </a:r>
            <a:pPr indent="0" marL="0">
              <a:spcAft>
                <a:spcPts val="800"/>
              </a:spcAft>
              <a:buNone/>
            </a:pPr>
            <a:r>
              <a:rPr lang="en-US" sz="1350" dirty="0">
                <a:solidFill>
                  <a:srgbClr val="0F2A33"/>
                </a:solidFill>
                <a:latin typeface="Calibri" pitchFamily="34" charset="0"/>
                <a:ea typeface="Calibri" pitchFamily="34" charset="-122"/>
                <a:cs typeface="Calibri" pitchFamily="34" charset="-120"/>
              </a:rPr>
              <a:t>label cleanup, missing-value imputation, one-hot encoding</a:t>
            </a:r>
            <a:endParaRPr lang="en-US" sz="1350" dirty="0"/>
          </a:p>
        </p:txBody>
      </p:sp>
      <p:sp>
        <p:nvSpPr>
          <p:cNvPr id="14" name="Shape 12"/>
          <p:cNvSpPr/>
          <p:nvPr/>
        </p:nvSpPr>
        <p:spPr>
          <a:xfrm>
            <a:off x="457200" y="2514600"/>
            <a:ext cx="8229600" cy="1737360"/>
          </a:xfrm>
          <a:prstGeom prst="roundRect">
            <a:avLst>
              <a:gd name="adj" fmla="val 5263"/>
            </a:avLst>
          </a:prstGeom>
          <a:solidFill>
            <a:srgbClr val="E6F1F2"/>
          </a:solidFill>
          <a:ln w="12700">
            <a:solidFill>
              <a:srgbClr val="E6F1F2"/>
            </a:solidFill>
            <a:prstDash val="solid"/>
          </a:ln>
        </p:spPr>
      </p:sp>
      <p:sp>
        <p:nvSpPr>
          <p:cNvPr id="15" name="Text 13"/>
          <p:cNvSpPr txBox="1"/>
          <p:nvPr/>
        </p:nvSpPr>
        <p:spPr>
          <a:xfrm>
            <a:off x="685800" y="2697480"/>
            <a:ext cx="7772400" cy="1371600"/>
          </a:xfrm>
          <a:prstGeom prst="rect">
            <a:avLst/>
          </a:prstGeom>
          <a:noFill/>
          <a:ln/>
        </p:spPr>
        <p:txBody>
          <a:bodyPr wrap="square" lIns="0" tIns="0" rIns="0" bIns="0" rtlCol="0" anchor="t"/>
          <a:lstStyle/>
          <a:p>
            <a:pPr indent="0" marL="0">
              <a:buNone/>
            </a:pPr>
            <a:r>
              <a:rPr lang="en-US" sz="1300" dirty="0">
                <a:solidFill>
                  <a:srgbClr val="0F2A33"/>
                </a:solidFill>
                <a:latin typeface="Calibri" pitchFamily="34" charset="0"/>
                <a:ea typeface="Calibri" pitchFamily="34" charset="-122"/>
                <a:cs typeface="Calibri" pitchFamily="34" charset="-120"/>
              </a:rPr>
              <a:t>Attributes include: age, blood pressure, specific gravity, albumin, sugar, random blood glucose, blood urea, serum creatinine, sodium, potassium, hemoglobin, packed cell volume, white and red blood cell counts, hypertension, diabetes mellitus, coronary artery disease, appetite, pedal edema and anemia.</a:t>
            </a:r>
            <a:endParaRPr lang="en-US" sz="13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20040"/>
            <a:ext cx="8229600" cy="640080"/>
          </a:xfrm>
          <a:prstGeom prst="rect">
            <a:avLst/>
          </a:prstGeom>
          <a:noFill/>
          <a:ln/>
        </p:spPr>
        <p:txBody>
          <a:bodyPr wrap="square" lIns="0" tIns="0" rIns="0" bIns="0" rtlCol="0" anchor="t"/>
          <a:lstStyle/>
          <a:p>
            <a:pPr indent="0" marL="0">
              <a:buNone/>
            </a:pPr>
            <a:r>
              <a:rPr lang="en-US" sz="2800" b="1" dirty="0">
                <a:solidFill>
                  <a:srgbClr val="0F2A33"/>
                </a:solidFill>
                <a:latin typeface="Cambria" pitchFamily="34" charset="0"/>
                <a:ea typeface="Cambria" pitchFamily="34" charset="-122"/>
                <a:cs typeface="Cambria" pitchFamily="34" charset="-120"/>
              </a:rPr>
              <a:t>Algorithm / Model</a:t>
            </a:r>
            <a:endParaRPr lang="en-US" sz="2800" dirty="0"/>
          </a:p>
        </p:txBody>
      </p:sp>
      <p:sp>
        <p:nvSpPr>
          <p:cNvPr id="3" name="Shape 1"/>
          <p:cNvSpPr/>
          <p:nvPr/>
        </p:nvSpPr>
        <p:spPr>
          <a:xfrm>
            <a:off x="457200" y="960120"/>
            <a:ext cx="1005840" cy="45720"/>
          </a:xfrm>
          <a:prstGeom prst="rect">
            <a:avLst/>
          </a:prstGeom>
          <a:solidFill>
            <a:srgbClr val="C2410C"/>
          </a:solidFill>
          <a:ln w="12700">
            <a:solidFill>
              <a:srgbClr val="C2410C"/>
            </a:solidFill>
            <a:prstDash val="solid"/>
          </a:ln>
        </p:spPr>
      </p:sp>
      <p:sp>
        <p:nvSpPr>
          <p:cNvPr id="4" name="Shape 2"/>
          <p:cNvSpPr/>
          <p:nvPr/>
        </p:nvSpPr>
        <p:spPr>
          <a:xfrm>
            <a:off x="457200" y="1188720"/>
            <a:ext cx="4023360" cy="3200400"/>
          </a:xfrm>
          <a:prstGeom prst="roundRect">
            <a:avLst>
              <a:gd name="adj" fmla="val 2857"/>
            </a:avLst>
          </a:prstGeom>
          <a:solidFill>
            <a:srgbClr val="E6F1F2"/>
          </a:solidFill>
          <a:ln w="12700">
            <a:solidFill>
              <a:srgbClr val="E6F1F2"/>
            </a:solidFill>
            <a:prstDash val="solid"/>
          </a:ln>
        </p:spPr>
      </p:sp>
      <p:sp>
        <p:nvSpPr>
          <p:cNvPr id="5" name="Shape 3"/>
          <p:cNvSpPr/>
          <p:nvPr/>
        </p:nvSpPr>
        <p:spPr>
          <a:xfrm>
            <a:off x="685800" y="1371600"/>
            <a:ext cx="1554480" cy="384048"/>
          </a:xfrm>
          <a:prstGeom prst="roundRect">
            <a:avLst>
              <a:gd name="adj" fmla="val 47619"/>
            </a:avLst>
          </a:prstGeom>
          <a:solidFill>
            <a:srgbClr val="0D6B73"/>
          </a:solidFill>
          <a:ln w="12700">
            <a:solidFill>
              <a:srgbClr val="0D6B73"/>
            </a:solidFill>
            <a:prstDash val="solid"/>
          </a:ln>
        </p:spPr>
      </p:sp>
      <p:sp>
        <p:nvSpPr>
          <p:cNvPr id="6" name="Text 4"/>
          <p:cNvSpPr txBox="1"/>
          <p:nvPr/>
        </p:nvSpPr>
        <p:spPr>
          <a:xfrm>
            <a:off x="685800" y="1371600"/>
            <a:ext cx="1554480"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XGBoost</a:t>
            </a:r>
            <a:endParaRPr lang="en-US" sz="1400" dirty="0"/>
          </a:p>
        </p:txBody>
      </p:sp>
      <p:sp>
        <p:nvSpPr>
          <p:cNvPr id="7" name="Text 5"/>
          <p:cNvSpPr txBox="1"/>
          <p:nvPr/>
        </p:nvSpPr>
        <p:spPr>
          <a:xfrm>
            <a:off x="685800" y="1920240"/>
            <a:ext cx="3566160" cy="1737360"/>
          </a:xfrm>
          <a:prstGeom prst="rect">
            <a:avLst/>
          </a:prstGeom>
          <a:noFill/>
          <a:ln/>
        </p:spPr>
        <p:txBody>
          <a:bodyPr wrap="square" lIns="0" tIns="0" rIns="0" bIns="0" rtlCol="0" anchor="t"/>
          <a:lstStyle/>
          <a:p>
            <a:pPr marL="342900" indent="-342900">
              <a:spcAft>
                <a:spcPts val="900"/>
              </a:spcAft>
              <a:buSzPct val="100000"/>
              <a:buChar char="•"/>
            </a:pPr>
            <a:r>
              <a:rPr lang="en-US" sz="1300" dirty="0">
                <a:solidFill>
                  <a:srgbClr val="0F2A33"/>
                </a:solidFill>
                <a:latin typeface="Calibri" pitchFamily="34" charset="0"/>
                <a:ea typeface="Calibri" pitchFamily="34" charset="-122"/>
                <a:cs typeface="Calibri" pitchFamily="34" charset="-120"/>
              </a:rPr>
              <a:t>Extreme Gradient Boosting: trees added sequentially, each correcting prior errors</a:t>
            </a:r>
            <a:endParaRPr lang="en-US" sz="1300" dirty="0"/>
          </a:p>
          <a:p>
            <a:pPr marL="342900" indent="-342900">
              <a:spcAft>
                <a:spcPts val="900"/>
              </a:spcAft>
              <a:buSzPct val="100000"/>
              <a:buChar char="•"/>
            </a:pPr>
            <a:r>
              <a:rPr lang="en-US" sz="1300" dirty="0">
                <a:solidFill>
                  <a:srgbClr val="0F2A33"/>
                </a:solidFill>
                <a:latin typeface="Calibri" pitchFamily="34" charset="0"/>
                <a:ea typeface="Calibri" pitchFamily="34" charset="-122"/>
                <a:cs typeface="Calibri" pitchFamily="34" charset="-120"/>
              </a:rPr>
              <a:t>Level-wise tree growth with L1/L2 regularization</a:t>
            </a:r>
            <a:endParaRPr lang="en-US" sz="1300" dirty="0"/>
          </a:p>
          <a:p>
            <a:pPr marL="342900" indent="-342900">
              <a:spcAft>
                <a:spcPts val="900"/>
              </a:spcAft>
              <a:buSzPct val="100000"/>
              <a:buChar char="•"/>
            </a:pPr>
            <a:r>
              <a:rPr lang="en-US" sz="1300" dirty="0">
                <a:solidFill>
                  <a:srgbClr val="0F2A33"/>
                </a:solidFill>
                <a:latin typeface="Calibri" pitchFamily="34" charset="0"/>
                <a:ea typeface="Calibri" pitchFamily="34" charset="-122"/>
                <a:cs typeface="Calibri" pitchFamily="34" charset="-120"/>
              </a:rPr>
              <a:t>Chosen for strong accuracy and stability on small tabular data</a:t>
            </a:r>
            <a:endParaRPr lang="en-US" sz="1300" dirty="0"/>
          </a:p>
        </p:txBody>
      </p:sp>
      <p:sp>
        <p:nvSpPr>
          <p:cNvPr id="8" name="Text 6"/>
          <p:cNvSpPr txBox="1"/>
          <p:nvPr/>
        </p:nvSpPr>
        <p:spPr>
          <a:xfrm>
            <a:off x="685800" y="3749040"/>
            <a:ext cx="3566160" cy="548640"/>
          </a:xfrm>
          <a:prstGeom prst="rect">
            <a:avLst/>
          </a:prstGeom>
          <a:noFill/>
          <a:ln/>
        </p:spPr>
        <p:txBody>
          <a:bodyPr wrap="square" lIns="0" tIns="0" rIns="0" bIns="0" rtlCol="0" anchor="t"/>
          <a:lstStyle/>
          <a:p>
            <a:pPr indent="0" marL="0">
              <a:buNone/>
            </a:pPr>
            <a:r>
              <a:rPr lang="en-US" sz="1150" i="1" dirty="0">
                <a:solidFill>
                  <a:srgbClr val="5A7580"/>
                </a:solidFill>
                <a:latin typeface="Calibri" pitchFamily="34" charset="0"/>
                <a:ea typeface="Calibri" pitchFamily="34" charset="-122"/>
                <a:cs typeface="Calibri" pitchFamily="34" charset="-120"/>
              </a:rPr>
              <a:t>Key parameters: n_estimators=300, max_depth=3, learning_rate=0.05</a:t>
            </a:r>
            <a:endParaRPr lang="en-US" sz="1150" dirty="0"/>
          </a:p>
        </p:txBody>
      </p:sp>
      <p:sp>
        <p:nvSpPr>
          <p:cNvPr id="9" name="Shape 7"/>
          <p:cNvSpPr/>
          <p:nvPr/>
        </p:nvSpPr>
        <p:spPr>
          <a:xfrm>
            <a:off x="4663440" y="1188720"/>
            <a:ext cx="4023360" cy="3200400"/>
          </a:xfrm>
          <a:prstGeom prst="roundRect">
            <a:avLst>
              <a:gd name="adj" fmla="val 2857"/>
            </a:avLst>
          </a:prstGeom>
          <a:solidFill>
            <a:srgbClr val="E6F1F2"/>
          </a:solidFill>
          <a:ln w="12700">
            <a:solidFill>
              <a:srgbClr val="E6F1F2"/>
            </a:solidFill>
            <a:prstDash val="solid"/>
          </a:ln>
        </p:spPr>
      </p:sp>
      <p:sp>
        <p:nvSpPr>
          <p:cNvPr id="10" name="Shape 8"/>
          <p:cNvSpPr/>
          <p:nvPr/>
        </p:nvSpPr>
        <p:spPr>
          <a:xfrm>
            <a:off x="4892040" y="1371600"/>
            <a:ext cx="1554480" cy="384048"/>
          </a:xfrm>
          <a:prstGeom prst="roundRect">
            <a:avLst>
              <a:gd name="adj" fmla="val 47619"/>
            </a:avLst>
          </a:prstGeom>
          <a:solidFill>
            <a:srgbClr val="C2410C"/>
          </a:solidFill>
          <a:ln w="12700">
            <a:solidFill>
              <a:srgbClr val="C2410C"/>
            </a:solidFill>
            <a:prstDash val="solid"/>
          </a:ln>
        </p:spPr>
      </p:sp>
      <p:sp>
        <p:nvSpPr>
          <p:cNvPr id="11" name="Text 9"/>
          <p:cNvSpPr txBox="1"/>
          <p:nvPr/>
        </p:nvSpPr>
        <p:spPr>
          <a:xfrm>
            <a:off x="4892040" y="1371600"/>
            <a:ext cx="1554480"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LightGBM</a:t>
            </a:r>
            <a:endParaRPr lang="en-US" sz="1400" dirty="0"/>
          </a:p>
        </p:txBody>
      </p:sp>
      <p:sp>
        <p:nvSpPr>
          <p:cNvPr id="12" name="Text 10"/>
          <p:cNvSpPr txBox="1"/>
          <p:nvPr/>
        </p:nvSpPr>
        <p:spPr>
          <a:xfrm>
            <a:off x="4892040" y="1920240"/>
            <a:ext cx="3566160" cy="1737360"/>
          </a:xfrm>
          <a:prstGeom prst="rect">
            <a:avLst/>
          </a:prstGeom>
          <a:noFill/>
          <a:ln/>
        </p:spPr>
        <p:txBody>
          <a:bodyPr wrap="square" lIns="0" tIns="0" rIns="0" bIns="0" rtlCol="0" anchor="t"/>
          <a:lstStyle/>
          <a:p>
            <a:pPr marL="342900" indent="-342900">
              <a:spcAft>
                <a:spcPts val="900"/>
              </a:spcAft>
              <a:buSzPct val="100000"/>
              <a:buChar char="•"/>
            </a:pPr>
            <a:r>
              <a:rPr lang="en-US" sz="1300" dirty="0">
                <a:solidFill>
                  <a:srgbClr val="0F2A33"/>
                </a:solidFill>
                <a:latin typeface="Calibri" pitchFamily="34" charset="0"/>
                <a:ea typeface="Calibri" pitchFamily="34" charset="-122"/>
                <a:cs typeface="Calibri" pitchFamily="34" charset="-120"/>
              </a:rPr>
              <a:t>Light Gradient Boosting Machine: histogram-based, leaf-wise growth</a:t>
            </a:r>
            <a:endParaRPr lang="en-US" sz="1300" dirty="0"/>
          </a:p>
          <a:p>
            <a:pPr marL="342900" indent="-342900">
              <a:spcAft>
                <a:spcPts val="900"/>
              </a:spcAft>
              <a:buSzPct val="100000"/>
              <a:buChar char="•"/>
            </a:pPr>
            <a:r>
              <a:rPr lang="en-US" sz="1300" dirty="0">
                <a:solidFill>
                  <a:srgbClr val="0F2A33"/>
                </a:solidFill>
                <a:latin typeface="Calibri" pitchFamily="34" charset="0"/>
                <a:ea typeface="Calibri" pitchFamily="34" charset="-122"/>
                <a:cs typeface="Calibri" pitchFamily="34" charset="-120"/>
              </a:rPr>
              <a:t>Faster training, lower memory use</a:t>
            </a:r>
            <a:endParaRPr lang="en-US" sz="1300" dirty="0"/>
          </a:p>
          <a:p>
            <a:pPr marL="342900" indent="-342900">
              <a:spcAft>
                <a:spcPts val="900"/>
              </a:spcAft>
              <a:buSzPct val="100000"/>
              <a:buChar char="•"/>
            </a:pPr>
            <a:r>
              <a:rPr lang="en-US" sz="1300" dirty="0">
                <a:solidFill>
                  <a:srgbClr val="0F2A33"/>
                </a:solidFill>
                <a:latin typeface="Calibri" pitchFamily="34" charset="0"/>
                <a:ea typeface="Calibri" pitchFamily="34" charset="-122"/>
                <a:cs typeface="Calibri" pitchFamily="34" charset="-120"/>
              </a:rPr>
              <a:t>Chosen as a faster, complementary cross-check on the same data</a:t>
            </a:r>
            <a:endParaRPr lang="en-US" sz="1300" dirty="0"/>
          </a:p>
        </p:txBody>
      </p:sp>
      <p:sp>
        <p:nvSpPr>
          <p:cNvPr id="13" name="Text 11"/>
          <p:cNvSpPr txBox="1"/>
          <p:nvPr/>
        </p:nvSpPr>
        <p:spPr>
          <a:xfrm>
            <a:off x="4892040" y="3749040"/>
            <a:ext cx="3566160" cy="548640"/>
          </a:xfrm>
          <a:prstGeom prst="rect">
            <a:avLst/>
          </a:prstGeom>
          <a:noFill/>
          <a:ln/>
        </p:spPr>
        <p:txBody>
          <a:bodyPr wrap="square" lIns="0" tIns="0" rIns="0" bIns="0" rtlCol="0" anchor="t"/>
          <a:lstStyle/>
          <a:p>
            <a:pPr indent="0" marL="0">
              <a:buNone/>
            </a:pPr>
            <a:r>
              <a:rPr lang="en-US" sz="1150" i="1" dirty="0">
                <a:solidFill>
                  <a:srgbClr val="5A7580"/>
                </a:solidFill>
                <a:latin typeface="Calibri" pitchFamily="34" charset="0"/>
                <a:ea typeface="Calibri" pitchFamily="34" charset="-122"/>
                <a:cs typeface="Calibri" pitchFamily="34" charset="-120"/>
              </a:rPr>
              <a:t>Key parameters: n_estimators=300, num_leaves=15, learning_rate=0.05</a:t>
            </a:r>
            <a:endParaRPr lang="en-US" sz="11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20040"/>
            <a:ext cx="8229600" cy="640080"/>
          </a:xfrm>
          <a:prstGeom prst="rect">
            <a:avLst/>
          </a:prstGeom>
          <a:noFill/>
          <a:ln/>
        </p:spPr>
        <p:txBody>
          <a:bodyPr wrap="square" lIns="0" tIns="0" rIns="0" bIns="0" rtlCol="0" anchor="t"/>
          <a:lstStyle/>
          <a:p>
            <a:pPr indent="0" marL="0">
              <a:buNone/>
            </a:pPr>
            <a:r>
              <a:rPr lang="en-US" sz="2800" b="1" dirty="0">
                <a:solidFill>
                  <a:srgbClr val="0F2A33"/>
                </a:solidFill>
                <a:latin typeface="Cambria" pitchFamily="34" charset="0"/>
                <a:ea typeface="Cambria" pitchFamily="34" charset="-122"/>
                <a:cs typeface="Cambria" pitchFamily="34" charset="-120"/>
              </a:rPr>
              <a:t>Results</a:t>
            </a:r>
            <a:endParaRPr lang="en-US" sz="2800" dirty="0"/>
          </a:p>
        </p:txBody>
      </p:sp>
      <p:sp>
        <p:nvSpPr>
          <p:cNvPr id="3" name="Shape 1"/>
          <p:cNvSpPr/>
          <p:nvPr/>
        </p:nvSpPr>
        <p:spPr>
          <a:xfrm>
            <a:off x="457200" y="960120"/>
            <a:ext cx="1005840" cy="45720"/>
          </a:xfrm>
          <a:prstGeom prst="rect">
            <a:avLst/>
          </a:prstGeom>
          <a:solidFill>
            <a:srgbClr val="C2410C"/>
          </a:solidFill>
          <a:ln w="12700">
            <a:solidFill>
              <a:srgbClr val="C2410C"/>
            </a:solidFill>
            <a:prstDash val="solid"/>
          </a:ln>
        </p:spPr>
      </p:sp>
      <p:graphicFrame>
        <p:nvGraphicFramePr>
          <p:cNvPr id="4" name="Chart 0" descr=""/>
          <p:cNvGraphicFramePr/>
          <p:nvPr/>
        </p:nvGraphicFramePr>
        <p:xfrm>
          <a:off x="457200" y="1188720"/>
          <a:ext cx="4846320" cy="3017520"/>
        </p:xfrm>
        <a:graphic xmlns:a="http://schemas.openxmlformats.org/drawingml/2006/main">
          <a:graphicData uri="http://schemas.openxmlformats.org/drawingml/2006/chart">
            <c:chart xmlns:c="http://schemas.openxmlformats.org/drawingml/2006/chart" r:id="rId1"/>
          </a:graphicData>
        </a:graphic>
      </p:graphicFrame>
      <p:sp>
        <p:nvSpPr>
          <p:cNvPr id="5" name="Shape 2"/>
          <p:cNvSpPr/>
          <p:nvPr/>
        </p:nvSpPr>
        <p:spPr>
          <a:xfrm>
            <a:off x="5486400" y="1188720"/>
            <a:ext cx="3200400" cy="3017520"/>
          </a:xfrm>
          <a:prstGeom prst="roundRect">
            <a:avLst>
              <a:gd name="adj" fmla="val 3030"/>
            </a:avLst>
          </a:prstGeom>
          <a:solidFill>
            <a:srgbClr val="E6F1F2"/>
          </a:solidFill>
          <a:ln w="12700">
            <a:solidFill>
              <a:srgbClr val="E6F1F2"/>
            </a:solidFill>
            <a:prstDash val="solid"/>
          </a:ln>
        </p:spPr>
      </p:sp>
      <p:sp>
        <p:nvSpPr>
          <p:cNvPr id="6" name="Text 3"/>
          <p:cNvSpPr txBox="1"/>
          <p:nvPr/>
        </p:nvSpPr>
        <p:spPr>
          <a:xfrm>
            <a:off x="5715000" y="1371600"/>
            <a:ext cx="2743200" cy="320040"/>
          </a:xfrm>
          <a:prstGeom prst="rect">
            <a:avLst/>
          </a:prstGeom>
          <a:noFill/>
          <a:ln/>
        </p:spPr>
        <p:txBody>
          <a:bodyPr wrap="square" lIns="0" tIns="0" rIns="0" bIns="0" rtlCol="0" anchor="t"/>
          <a:lstStyle/>
          <a:p>
            <a:pPr indent="0" marL="0">
              <a:buNone/>
            </a:pPr>
            <a:r>
              <a:rPr lang="en-US" sz="1400" b="1" dirty="0">
                <a:solidFill>
                  <a:srgbClr val="0D6B73"/>
                </a:solidFill>
                <a:latin typeface="Cambria" pitchFamily="34" charset="0"/>
                <a:ea typeface="Cambria" pitchFamily="34" charset="-122"/>
                <a:cs typeface="Cambria" pitchFamily="34" charset="-120"/>
              </a:rPr>
              <a:t>Metrics to report</a:t>
            </a:r>
            <a:endParaRPr lang="en-US" sz="1400" dirty="0"/>
          </a:p>
        </p:txBody>
      </p:sp>
      <p:sp>
        <p:nvSpPr>
          <p:cNvPr id="7" name="Text 4"/>
          <p:cNvSpPr txBox="1"/>
          <p:nvPr/>
        </p:nvSpPr>
        <p:spPr>
          <a:xfrm>
            <a:off x="5715000" y="1783080"/>
            <a:ext cx="2743200" cy="2286000"/>
          </a:xfrm>
          <a:prstGeom prst="rect">
            <a:avLst/>
          </a:prstGeom>
          <a:noFill/>
          <a:ln/>
        </p:spPr>
        <p:txBody>
          <a:bodyPr wrap="square" lIns="0" tIns="0" rIns="0" bIns="0" rtlCol="0" anchor="t"/>
          <a:lstStyle/>
          <a:p>
            <a:pPr marL="342900" indent="-342900">
              <a:spcAft>
                <a:spcPts val="900"/>
              </a:spcAft>
              <a:buSzPct val="100000"/>
              <a:buChar char="•"/>
            </a:pPr>
            <a:r>
              <a:rPr lang="en-US" sz="1300" dirty="0">
                <a:solidFill>
                  <a:srgbClr val="0F2A33"/>
                </a:solidFill>
                <a:latin typeface="Calibri" pitchFamily="34" charset="0"/>
                <a:ea typeface="Calibri" pitchFamily="34" charset="-122"/>
                <a:cs typeface="Calibri" pitchFamily="34" charset="-120"/>
              </a:rPr>
              <a:t>Accuracy</a:t>
            </a:r>
            <a:endParaRPr lang="en-US" sz="1300" dirty="0"/>
          </a:p>
          <a:p>
            <a:pPr marL="342900" indent="-342900">
              <a:spcAft>
                <a:spcPts val="900"/>
              </a:spcAft>
              <a:buSzPct val="100000"/>
              <a:buChar char="•"/>
            </a:pPr>
            <a:r>
              <a:rPr lang="en-US" sz="1300" dirty="0">
                <a:solidFill>
                  <a:srgbClr val="0F2A33"/>
                </a:solidFill>
                <a:latin typeface="Calibri" pitchFamily="34" charset="0"/>
                <a:ea typeface="Calibri" pitchFamily="34" charset="-122"/>
                <a:cs typeface="Calibri" pitchFamily="34" charset="-120"/>
              </a:rPr>
              <a:t>Precision</a:t>
            </a:r>
            <a:endParaRPr lang="en-US" sz="1300" dirty="0"/>
          </a:p>
          <a:p>
            <a:pPr marL="342900" indent="-342900">
              <a:spcAft>
                <a:spcPts val="900"/>
              </a:spcAft>
              <a:buSzPct val="100000"/>
              <a:buChar char="•"/>
            </a:pPr>
            <a:r>
              <a:rPr lang="en-US" sz="1300" dirty="0">
                <a:solidFill>
                  <a:srgbClr val="0F2A33"/>
                </a:solidFill>
                <a:latin typeface="Calibri" pitchFamily="34" charset="0"/>
                <a:ea typeface="Calibri" pitchFamily="34" charset="-122"/>
                <a:cs typeface="Calibri" pitchFamily="34" charset="-120"/>
              </a:rPr>
              <a:t>Recall (sensitivity)</a:t>
            </a:r>
            <a:endParaRPr lang="en-US" sz="1300" dirty="0"/>
          </a:p>
          <a:p>
            <a:pPr marL="342900" indent="-342900">
              <a:spcAft>
                <a:spcPts val="900"/>
              </a:spcAft>
              <a:buSzPct val="100000"/>
              <a:buChar char="•"/>
            </a:pPr>
            <a:r>
              <a:rPr lang="en-US" sz="1300" dirty="0">
                <a:solidFill>
                  <a:srgbClr val="0F2A33"/>
                </a:solidFill>
                <a:latin typeface="Calibri" pitchFamily="34" charset="0"/>
                <a:ea typeface="Calibri" pitchFamily="34" charset="-122"/>
                <a:cs typeface="Calibri" pitchFamily="34" charset="-120"/>
              </a:rPr>
              <a:t>F1-score</a:t>
            </a:r>
            <a:endParaRPr lang="en-US" sz="1300" dirty="0"/>
          </a:p>
          <a:p>
            <a:pPr marL="342900" indent="-342900">
              <a:spcAft>
                <a:spcPts val="900"/>
              </a:spcAft>
              <a:buSzPct val="100000"/>
              <a:buChar char="•"/>
            </a:pPr>
            <a:r>
              <a:rPr lang="en-US" sz="1300" dirty="0">
                <a:solidFill>
                  <a:srgbClr val="0F2A33"/>
                </a:solidFill>
                <a:latin typeface="Calibri" pitchFamily="34" charset="0"/>
                <a:ea typeface="Calibri" pitchFamily="34" charset="-122"/>
                <a:cs typeface="Calibri" pitchFamily="34" charset="-120"/>
              </a:rPr>
              <a:t>ROC-AUC</a:t>
            </a:r>
            <a:endParaRPr lang="en-US" sz="1300" dirty="0"/>
          </a:p>
          <a:p>
            <a:pPr marL="342900" indent="-342900">
              <a:spcAft>
                <a:spcPts val="900"/>
              </a:spcAft>
              <a:buSzPct val="100000"/>
              <a:buChar char="•"/>
            </a:pPr>
            <a:r>
              <a:rPr lang="en-US" sz="1300" dirty="0">
                <a:solidFill>
                  <a:srgbClr val="0F2A33"/>
                </a:solidFill>
                <a:latin typeface="Calibri" pitchFamily="34" charset="0"/>
                <a:ea typeface="Calibri" pitchFamily="34" charset="-122"/>
                <a:cs typeface="Calibri" pitchFamily="34" charset="-120"/>
              </a:rPr>
              <a:t>Confusion matrix</a:t>
            </a:r>
            <a:endParaRPr lang="en-US" sz="1300" dirty="0"/>
          </a:p>
        </p:txBody>
      </p:sp>
      <p:sp>
        <p:nvSpPr>
          <p:cNvPr id="8" name="Text 5"/>
          <p:cNvSpPr txBox="1"/>
          <p:nvPr/>
        </p:nvSpPr>
        <p:spPr>
          <a:xfrm>
            <a:off x="457200" y="4343400"/>
            <a:ext cx="8229600" cy="365760"/>
          </a:xfrm>
          <a:prstGeom prst="rect">
            <a:avLst/>
          </a:prstGeom>
          <a:noFill/>
          <a:ln/>
        </p:spPr>
        <p:txBody>
          <a:bodyPr wrap="square" lIns="0" tIns="0" rIns="0" bIns="0" rtlCol="0" anchor="t"/>
          <a:lstStyle/>
          <a:p>
            <a:pPr indent="0" marL="0">
              <a:buNone/>
            </a:pPr>
            <a:r>
              <a:rPr lang="en-US" sz="1150" i="1" dirty="0">
                <a:solidFill>
                  <a:srgbClr val="5A7580"/>
                </a:solidFill>
                <a:latin typeface="Calibri" pitchFamily="34" charset="0"/>
                <a:ea typeface="Calibri" pitchFamily="34" charset="-122"/>
                <a:cs typeface="Calibri" pitchFamily="34" charset="-120"/>
              </a:rPr>
              <a:t>Replace the chart values with your actual cross-validated results once training is complete.</a:t>
            </a:r>
            <a:endParaRPr lang="en-US" sz="11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20040"/>
            <a:ext cx="8229600" cy="640080"/>
          </a:xfrm>
          <a:prstGeom prst="rect">
            <a:avLst/>
          </a:prstGeom>
          <a:noFill/>
          <a:ln/>
        </p:spPr>
        <p:txBody>
          <a:bodyPr wrap="square" lIns="0" tIns="0" rIns="0" bIns="0" rtlCol="0" anchor="t"/>
          <a:lstStyle/>
          <a:p>
            <a:pPr indent="0" marL="0">
              <a:buNone/>
            </a:pPr>
            <a:r>
              <a:rPr lang="en-US" sz="2800" b="1" dirty="0">
                <a:solidFill>
                  <a:srgbClr val="0F2A33"/>
                </a:solidFill>
                <a:latin typeface="Cambria" pitchFamily="34" charset="0"/>
                <a:ea typeface="Cambria" pitchFamily="34" charset="-122"/>
                <a:cs typeface="Cambria" pitchFamily="34" charset="-120"/>
              </a:rPr>
              <a:t>Advantages</a:t>
            </a:r>
            <a:endParaRPr lang="en-US" sz="2800" dirty="0"/>
          </a:p>
        </p:txBody>
      </p:sp>
      <p:sp>
        <p:nvSpPr>
          <p:cNvPr id="3" name="Shape 1"/>
          <p:cNvSpPr/>
          <p:nvPr/>
        </p:nvSpPr>
        <p:spPr>
          <a:xfrm>
            <a:off x="457200" y="960120"/>
            <a:ext cx="1005840" cy="45720"/>
          </a:xfrm>
          <a:prstGeom prst="rect">
            <a:avLst/>
          </a:prstGeom>
          <a:solidFill>
            <a:srgbClr val="C2410C"/>
          </a:solidFill>
          <a:ln w="12700">
            <a:solidFill>
              <a:srgbClr val="C2410C"/>
            </a:solidFill>
            <a:prstDash val="solid"/>
          </a:ln>
        </p:spPr>
      </p:sp>
      <p:sp>
        <p:nvSpPr>
          <p:cNvPr id="4" name="Text 2"/>
          <p:cNvSpPr txBox="1"/>
          <p:nvPr/>
        </p:nvSpPr>
        <p:spPr>
          <a:xfrm>
            <a:off x="548640" y="1280160"/>
            <a:ext cx="8046720" cy="3200400"/>
          </a:xfrm>
          <a:prstGeom prst="rect">
            <a:avLst/>
          </a:prstGeom>
          <a:noFill/>
          <a:ln/>
        </p:spPr>
        <p:txBody>
          <a:bodyPr wrap="square" lIns="0" tIns="0" rIns="0" bIns="0" rtlCol="0" anchor="t"/>
          <a:lstStyle/>
          <a:p>
            <a:pPr marL="342900" indent="-342900">
              <a:spcAft>
                <a:spcPts val="900"/>
              </a:spcAft>
              <a:buSzPct val="100000"/>
              <a:buChar char="•"/>
            </a:pPr>
            <a:r>
              <a:rPr lang="en-US" sz="1600" dirty="0">
                <a:solidFill>
                  <a:srgbClr val="0F2A33"/>
                </a:solidFill>
                <a:latin typeface="Calibri" pitchFamily="34" charset="0"/>
                <a:ea typeface="Calibri" pitchFamily="34" charset="-122"/>
                <a:cs typeface="Calibri" pitchFamily="34" charset="-120"/>
              </a:rPr>
              <a:t>Flags risk from routine lab values rather than waiting for symptoms.</a:t>
            </a:r>
            <a:endParaRPr lang="en-US" sz="1600" dirty="0"/>
          </a:p>
          <a:p>
            <a:pPr marL="342900" indent="-342900">
              <a:spcAft>
                <a:spcPts val="900"/>
              </a:spcAft>
              <a:buSzPct val="100000"/>
              <a:buChar char="•"/>
            </a:pPr>
            <a:r>
              <a:rPr lang="en-US" sz="1600" dirty="0">
                <a:solidFill>
                  <a:srgbClr val="0F2A33"/>
                </a:solidFill>
                <a:latin typeface="Calibri" pitchFamily="34" charset="0"/>
                <a:ea typeface="Calibri" pitchFamily="34" charset="-122"/>
                <a:cs typeface="Calibri" pitchFamily="34" charset="-120"/>
              </a:rPr>
              <a:t>Two independent models reduce the chance of a single model's blind spot going unnoticed.</a:t>
            </a:r>
            <a:endParaRPr lang="en-US" sz="1600" dirty="0"/>
          </a:p>
          <a:p>
            <a:pPr marL="342900" indent="-342900">
              <a:spcAft>
                <a:spcPts val="900"/>
              </a:spcAft>
              <a:buSzPct val="100000"/>
              <a:buChar char="•"/>
            </a:pPr>
            <a:r>
              <a:rPr lang="en-US" sz="1600" dirty="0">
                <a:solidFill>
                  <a:srgbClr val="0F2A33"/>
                </a:solidFill>
                <a:latin typeface="Calibri" pitchFamily="34" charset="0"/>
                <a:ea typeface="Calibri" pitchFamily="34" charset="-122"/>
                <a:cs typeface="Calibri" pitchFamily="34" charset="-120"/>
              </a:rPr>
              <a:t>Web portal needs no data-science background to read.</a:t>
            </a:r>
            <a:endParaRPr lang="en-US" sz="1600" dirty="0"/>
          </a:p>
          <a:p>
            <a:pPr marL="342900" indent="-342900">
              <a:spcAft>
                <a:spcPts val="900"/>
              </a:spcAft>
              <a:buSzPct val="100000"/>
              <a:buChar char="•"/>
            </a:pPr>
            <a:r>
              <a:rPr lang="en-US" sz="1600" dirty="0">
                <a:solidFill>
                  <a:srgbClr val="0F2A33"/>
                </a:solidFill>
                <a:latin typeface="Calibri" pitchFamily="34" charset="0"/>
                <a:ea typeface="Calibri" pitchFamily="34" charset="-122"/>
                <a:cs typeface="Calibri" pitchFamily="34" charset="-120"/>
              </a:rPr>
              <a:t>Modular design: the prediction backend can be swapped or retrained without changing the UI.</a:t>
            </a:r>
            <a:endParaRPr lang="en-US" sz="1600" dirty="0"/>
          </a:p>
          <a:p>
            <a:pPr marL="342900" indent="-342900">
              <a:spcAft>
                <a:spcPts val="900"/>
              </a:spcAft>
              <a:buSzPct val="100000"/>
              <a:buChar char="•"/>
            </a:pPr>
            <a:r>
              <a:rPr lang="en-US" sz="1600" dirty="0">
                <a:solidFill>
                  <a:srgbClr val="0F2A33"/>
                </a:solidFill>
                <a:latin typeface="Calibri" pitchFamily="34" charset="0"/>
                <a:ea typeface="Calibri" pitchFamily="34" charset="-122"/>
                <a:cs typeface="Calibri" pitchFamily="34" charset="-120"/>
              </a:rPr>
              <a:t>Low-cost: reuses tests already ordered in routine care.</a:t>
            </a:r>
            <a:endParaRPr lang="en-US" sz="16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20040"/>
            <a:ext cx="8229600" cy="640080"/>
          </a:xfrm>
          <a:prstGeom prst="rect">
            <a:avLst/>
          </a:prstGeom>
          <a:noFill/>
          <a:ln/>
        </p:spPr>
        <p:txBody>
          <a:bodyPr wrap="square" lIns="0" tIns="0" rIns="0" bIns="0" rtlCol="0" anchor="t"/>
          <a:lstStyle/>
          <a:p>
            <a:pPr indent="0" marL="0">
              <a:buNone/>
            </a:pPr>
            <a:r>
              <a:rPr lang="en-US" sz="2800" b="1" dirty="0">
                <a:solidFill>
                  <a:srgbClr val="0F2A33"/>
                </a:solidFill>
                <a:latin typeface="Cambria" pitchFamily="34" charset="0"/>
                <a:ea typeface="Cambria" pitchFamily="34" charset="-122"/>
                <a:cs typeface="Cambria" pitchFamily="34" charset="-120"/>
              </a:rPr>
              <a:t>Applications</a:t>
            </a:r>
            <a:endParaRPr lang="en-US" sz="2800" dirty="0"/>
          </a:p>
        </p:txBody>
      </p:sp>
      <p:sp>
        <p:nvSpPr>
          <p:cNvPr id="3" name="Shape 1"/>
          <p:cNvSpPr/>
          <p:nvPr/>
        </p:nvSpPr>
        <p:spPr>
          <a:xfrm>
            <a:off x="457200" y="960120"/>
            <a:ext cx="1005840" cy="45720"/>
          </a:xfrm>
          <a:prstGeom prst="rect">
            <a:avLst/>
          </a:prstGeom>
          <a:solidFill>
            <a:srgbClr val="C2410C"/>
          </a:solidFill>
          <a:ln w="12700">
            <a:solidFill>
              <a:srgbClr val="C2410C"/>
            </a:solidFill>
            <a:prstDash val="solid"/>
          </a:ln>
        </p:spPr>
      </p:sp>
      <p:sp>
        <p:nvSpPr>
          <p:cNvPr id="4" name="Shape 2"/>
          <p:cNvSpPr/>
          <p:nvPr/>
        </p:nvSpPr>
        <p:spPr>
          <a:xfrm>
            <a:off x="457200" y="1188720"/>
            <a:ext cx="4023360" cy="1371600"/>
          </a:xfrm>
          <a:prstGeom prst="roundRect">
            <a:avLst>
              <a:gd name="adj" fmla="val 6667"/>
            </a:avLst>
          </a:prstGeom>
          <a:solidFill>
            <a:srgbClr val="E6F1F2"/>
          </a:solidFill>
          <a:ln w="12700">
            <a:solidFill>
              <a:srgbClr val="E6F1F2"/>
            </a:solidFill>
            <a:prstDash val="solid"/>
          </a:ln>
        </p:spPr>
      </p:sp>
      <p:sp>
        <p:nvSpPr>
          <p:cNvPr id="5" name="Text 3"/>
          <p:cNvSpPr txBox="1"/>
          <p:nvPr/>
        </p:nvSpPr>
        <p:spPr>
          <a:xfrm>
            <a:off x="640080" y="1325880"/>
            <a:ext cx="3657600" cy="457200"/>
          </a:xfrm>
          <a:prstGeom prst="rect">
            <a:avLst/>
          </a:prstGeom>
          <a:noFill/>
          <a:ln/>
        </p:spPr>
        <p:txBody>
          <a:bodyPr wrap="square" lIns="0" tIns="0" rIns="0" bIns="0" rtlCol="0" anchor="t"/>
          <a:lstStyle/>
          <a:p>
            <a:pPr indent="0" marL="0">
              <a:buNone/>
            </a:pPr>
            <a:r>
              <a:rPr lang="en-US" sz="1400" b="1" dirty="0">
                <a:solidFill>
                  <a:srgbClr val="0D6B73"/>
                </a:solidFill>
                <a:latin typeface="Cambria" pitchFamily="34" charset="0"/>
                <a:ea typeface="Cambria" pitchFamily="34" charset="-122"/>
                <a:cs typeface="Cambria" pitchFamily="34" charset="-120"/>
              </a:rPr>
              <a:t>Hospitals and clinics</a:t>
            </a:r>
            <a:endParaRPr lang="en-US" sz="1400" dirty="0"/>
          </a:p>
        </p:txBody>
      </p:sp>
      <p:sp>
        <p:nvSpPr>
          <p:cNvPr id="6" name="Text 4"/>
          <p:cNvSpPr txBox="1"/>
          <p:nvPr/>
        </p:nvSpPr>
        <p:spPr>
          <a:xfrm>
            <a:off x="640080" y="1783080"/>
            <a:ext cx="3657600" cy="685800"/>
          </a:xfrm>
          <a:prstGeom prst="rect">
            <a:avLst/>
          </a:prstGeom>
          <a:noFill/>
          <a:ln/>
        </p:spPr>
        <p:txBody>
          <a:bodyPr wrap="square" lIns="0" tIns="0" rIns="0" bIns="0" rtlCol="0" anchor="t"/>
          <a:lstStyle/>
          <a:p>
            <a:pPr indent="0" marL="0">
              <a:buNone/>
            </a:pPr>
            <a:r>
              <a:rPr lang="en-US" sz="1250" dirty="0">
                <a:solidFill>
                  <a:srgbClr val="0F2A33"/>
                </a:solidFill>
                <a:latin typeface="Calibri" pitchFamily="34" charset="0"/>
                <a:ea typeface="Calibri" pitchFamily="34" charset="-122"/>
                <a:cs typeface="Calibri" pitchFamily="34" charset="-120"/>
              </a:rPr>
              <a:t>Second-opinion flag during routine checkups</a:t>
            </a:r>
            <a:endParaRPr lang="en-US" sz="1250" dirty="0"/>
          </a:p>
        </p:txBody>
      </p:sp>
      <p:sp>
        <p:nvSpPr>
          <p:cNvPr id="7" name="Shape 5"/>
          <p:cNvSpPr/>
          <p:nvPr/>
        </p:nvSpPr>
        <p:spPr>
          <a:xfrm>
            <a:off x="4663440" y="1188720"/>
            <a:ext cx="4023360" cy="1371600"/>
          </a:xfrm>
          <a:prstGeom prst="roundRect">
            <a:avLst>
              <a:gd name="adj" fmla="val 6667"/>
            </a:avLst>
          </a:prstGeom>
          <a:solidFill>
            <a:srgbClr val="E6F1F2"/>
          </a:solidFill>
          <a:ln w="12700">
            <a:solidFill>
              <a:srgbClr val="E6F1F2"/>
            </a:solidFill>
            <a:prstDash val="solid"/>
          </a:ln>
        </p:spPr>
      </p:sp>
      <p:sp>
        <p:nvSpPr>
          <p:cNvPr id="8" name="Text 6"/>
          <p:cNvSpPr txBox="1"/>
          <p:nvPr/>
        </p:nvSpPr>
        <p:spPr>
          <a:xfrm>
            <a:off x="4846320" y="1325880"/>
            <a:ext cx="3657600" cy="457200"/>
          </a:xfrm>
          <a:prstGeom prst="rect">
            <a:avLst/>
          </a:prstGeom>
          <a:noFill/>
          <a:ln/>
        </p:spPr>
        <p:txBody>
          <a:bodyPr wrap="square" lIns="0" tIns="0" rIns="0" bIns="0" rtlCol="0" anchor="t"/>
          <a:lstStyle/>
          <a:p>
            <a:pPr indent="0" marL="0">
              <a:buNone/>
            </a:pPr>
            <a:r>
              <a:rPr lang="en-US" sz="1400" b="1" dirty="0">
                <a:solidFill>
                  <a:srgbClr val="0D6B73"/>
                </a:solidFill>
                <a:latin typeface="Cambria" pitchFamily="34" charset="0"/>
                <a:ea typeface="Cambria" pitchFamily="34" charset="-122"/>
                <a:cs typeface="Cambria" pitchFamily="34" charset="-120"/>
              </a:rPr>
              <a:t>Rural screening camps</a:t>
            </a:r>
            <a:endParaRPr lang="en-US" sz="1400" dirty="0"/>
          </a:p>
        </p:txBody>
      </p:sp>
      <p:sp>
        <p:nvSpPr>
          <p:cNvPr id="9" name="Text 7"/>
          <p:cNvSpPr txBox="1"/>
          <p:nvPr/>
        </p:nvSpPr>
        <p:spPr>
          <a:xfrm>
            <a:off x="4846320" y="1783080"/>
            <a:ext cx="3657600" cy="685800"/>
          </a:xfrm>
          <a:prstGeom prst="rect">
            <a:avLst/>
          </a:prstGeom>
          <a:noFill/>
          <a:ln/>
        </p:spPr>
        <p:txBody>
          <a:bodyPr wrap="square" lIns="0" tIns="0" rIns="0" bIns="0" rtlCol="0" anchor="t"/>
          <a:lstStyle/>
          <a:p>
            <a:pPr indent="0" marL="0">
              <a:buNone/>
            </a:pPr>
            <a:r>
              <a:rPr lang="en-US" sz="1250" dirty="0">
                <a:solidFill>
                  <a:srgbClr val="0F2A33"/>
                </a:solidFill>
                <a:latin typeface="Calibri" pitchFamily="34" charset="0"/>
                <a:ea typeface="Calibri" pitchFamily="34" charset="-122"/>
                <a:cs typeface="Calibri" pitchFamily="34" charset="-120"/>
              </a:rPr>
              <a:t>Early flag where specialist time is scarce</a:t>
            </a:r>
            <a:endParaRPr lang="en-US" sz="1250" dirty="0"/>
          </a:p>
        </p:txBody>
      </p:sp>
      <p:sp>
        <p:nvSpPr>
          <p:cNvPr id="10" name="Shape 8"/>
          <p:cNvSpPr/>
          <p:nvPr/>
        </p:nvSpPr>
        <p:spPr>
          <a:xfrm>
            <a:off x="457200" y="2743200"/>
            <a:ext cx="4023360" cy="1371600"/>
          </a:xfrm>
          <a:prstGeom prst="roundRect">
            <a:avLst>
              <a:gd name="adj" fmla="val 6667"/>
            </a:avLst>
          </a:prstGeom>
          <a:solidFill>
            <a:srgbClr val="E6F1F2"/>
          </a:solidFill>
          <a:ln w="12700">
            <a:solidFill>
              <a:srgbClr val="E6F1F2"/>
            </a:solidFill>
            <a:prstDash val="solid"/>
          </a:ln>
        </p:spPr>
      </p:sp>
      <p:sp>
        <p:nvSpPr>
          <p:cNvPr id="11" name="Text 9"/>
          <p:cNvSpPr txBox="1"/>
          <p:nvPr/>
        </p:nvSpPr>
        <p:spPr>
          <a:xfrm>
            <a:off x="640080" y="2880360"/>
            <a:ext cx="3657600" cy="457200"/>
          </a:xfrm>
          <a:prstGeom prst="rect">
            <a:avLst/>
          </a:prstGeom>
          <a:noFill/>
          <a:ln/>
        </p:spPr>
        <p:txBody>
          <a:bodyPr wrap="square" lIns="0" tIns="0" rIns="0" bIns="0" rtlCol="0" anchor="t"/>
          <a:lstStyle/>
          <a:p>
            <a:pPr indent="0" marL="0">
              <a:buNone/>
            </a:pPr>
            <a:r>
              <a:rPr lang="en-US" sz="1400" b="1" dirty="0">
                <a:solidFill>
                  <a:srgbClr val="0D6B73"/>
                </a:solidFill>
                <a:latin typeface="Cambria" pitchFamily="34" charset="0"/>
                <a:ea typeface="Cambria" pitchFamily="34" charset="-122"/>
                <a:cs typeface="Cambria" pitchFamily="34" charset="-120"/>
              </a:rPr>
              <a:t>Telemedicine platforms</a:t>
            </a:r>
            <a:endParaRPr lang="en-US" sz="1400" dirty="0"/>
          </a:p>
        </p:txBody>
      </p:sp>
      <p:sp>
        <p:nvSpPr>
          <p:cNvPr id="12" name="Text 10"/>
          <p:cNvSpPr txBox="1"/>
          <p:nvPr/>
        </p:nvSpPr>
        <p:spPr>
          <a:xfrm>
            <a:off x="640080" y="3337560"/>
            <a:ext cx="3657600" cy="685800"/>
          </a:xfrm>
          <a:prstGeom prst="rect">
            <a:avLst/>
          </a:prstGeom>
          <a:noFill/>
          <a:ln/>
        </p:spPr>
        <p:txBody>
          <a:bodyPr wrap="square" lIns="0" tIns="0" rIns="0" bIns="0" rtlCol="0" anchor="t"/>
          <a:lstStyle/>
          <a:p>
            <a:pPr indent="0" marL="0">
              <a:buNone/>
            </a:pPr>
            <a:r>
              <a:rPr lang="en-US" sz="1250" dirty="0">
                <a:solidFill>
                  <a:srgbClr val="0F2A33"/>
                </a:solidFill>
                <a:latin typeface="Calibri" pitchFamily="34" charset="0"/>
                <a:ea typeface="Calibri" pitchFamily="34" charset="-122"/>
                <a:cs typeface="Calibri" pitchFamily="34" charset="-120"/>
              </a:rPr>
              <a:t>Remote pre-screening before a specialist consult</a:t>
            </a:r>
            <a:endParaRPr lang="en-US" sz="1250" dirty="0"/>
          </a:p>
        </p:txBody>
      </p:sp>
      <p:sp>
        <p:nvSpPr>
          <p:cNvPr id="13" name="Shape 11"/>
          <p:cNvSpPr/>
          <p:nvPr/>
        </p:nvSpPr>
        <p:spPr>
          <a:xfrm>
            <a:off x="4663440" y="2743200"/>
            <a:ext cx="4023360" cy="1371600"/>
          </a:xfrm>
          <a:prstGeom prst="roundRect">
            <a:avLst>
              <a:gd name="adj" fmla="val 6667"/>
            </a:avLst>
          </a:prstGeom>
          <a:solidFill>
            <a:srgbClr val="E6F1F2"/>
          </a:solidFill>
          <a:ln w="12700">
            <a:solidFill>
              <a:srgbClr val="E6F1F2"/>
            </a:solidFill>
            <a:prstDash val="solid"/>
          </a:ln>
        </p:spPr>
      </p:sp>
      <p:sp>
        <p:nvSpPr>
          <p:cNvPr id="14" name="Text 12"/>
          <p:cNvSpPr txBox="1"/>
          <p:nvPr/>
        </p:nvSpPr>
        <p:spPr>
          <a:xfrm>
            <a:off x="4846320" y="2880360"/>
            <a:ext cx="3657600" cy="457200"/>
          </a:xfrm>
          <a:prstGeom prst="rect">
            <a:avLst/>
          </a:prstGeom>
          <a:noFill/>
          <a:ln/>
        </p:spPr>
        <p:txBody>
          <a:bodyPr wrap="square" lIns="0" tIns="0" rIns="0" bIns="0" rtlCol="0" anchor="t"/>
          <a:lstStyle/>
          <a:p>
            <a:pPr indent="0" marL="0">
              <a:buNone/>
            </a:pPr>
            <a:r>
              <a:rPr lang="en-US" sz="1400" b="1" dirty="0">
                <a:solidFill>
                  <a:srgbClr val="0D6B73"/>
                </a:solidFill>
                <a:latin typeface="Cambria" pitchFamily="34" charset="0"/>
                <a:ea typeface="Cambria" pitchFamily="34" charset="-122"/>
                <a:cs typeface="Cambria" pitchFamily="34" charset="-120"/>
              </a:rPr>
              <a:t>Insurance and corporate health checks</a:t>
            </a:r>
            <a:endParaRPr lang="en-US" sz="1400" dirty="0"/>
          </a:p>
        </p:txBody>
      </p:sp>
      <p:sp>
        <p:nvSpPr>
          <p:cNvPr id="15" name="Text 13"/>
          <p:cNvSpPr txBox="1"/>
          <p:nvPr/>
        </p:nvSpPr>
        <p:spPr>
          <a:xfrm>
            <a:off x="4846320" y="3337560"/>
            <a:ext cx="3657600" cy="685800"/>
          </a:xfrm>
          <a:prstGeom prst="rect">
            <a:avLst/>
          </a:prstGeom>
          <a:noFill/>
          <a:ln/>
        </p:spPr>
        <p:txBody>
          <a:bodyPr wrap="square" lIns="0" tIns="0" rIns="0" bIns="0" rtlCol="0" anchor="t"/>
          <a:lstStyle/>
          <a:p>
            <a:pPr indent="0" marL="0">
              <a:buNone/>
            </a:pPr>
            <a:r>
              <a:rPr lang="en-US" sz="1250" dirty="0">
                <a:solidFill>
                  <a:srgbClr val="0F2A33"/>
                </a:solidFill>
                <a:latin typeface="Calibri" pitchFamily="34" charset="0"/>
                <a:ea typeface="Calibri" pitchFamily="34" charset="-122"/>
                <a:cs typeface="Calibri" pitchFamily="34" charset="-120"/>
              </a:rPr>
              <a:t>Bulk risk screening across large populations</a:t>
            </a:r>
            <a:endParaRPr lang="en-US" sz="12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20040"/>
            <a:ext cx="8229600" cy="640080"/>
          </a:xfrm>
          <a:prstGeom prst="rect">
            <a:avLst/>
          </a:prstGeom>
          <a:noFill/>
          <a:ln/>
        </p:spPr>
        <p:txBody>
          <a:bodyPr wrap="square" lIns="0" tIns="0" rIns="0" bIns="0" rtlCol="0" anchor="t"/>
          <a:lstStyle/>
          <a:p>
            <a:pPr indent="0" marL="0">
              <a:buNone/>
            </a:pPr>
            <a:r>
              <a:rPr lang="en-US" sz="2800" b="1" dirty="0">
                <a:solidFill>
                  <a:srgbClr val="0F2A33"/>
                </a:solidFill>
                <a:latin typeface="Cambria" pitchFamily="34" charset="0"/>
                <a:ea typeface="Cambria" pitchFamily="34" charset="-122"/>
                <a:cs typeface="Cambria" pitchFamily="34" charset="-120"/>
              </a:rPr>
              <a:t>Limitations</a:t>
            </a:r>
            <a:endParaRPr lang="en-US" sz="2800" dirty="0"/>
          </a:p>
        </p:txBody>
      </p:sp>
      <p:sp>
        <p:nvSpPr>
          <p:cNvPr id="3" name="Shape 1"/>
          <p:cNvSpPr/>
          <p:nvPr/>
        </p:nvSpPr>
        <p:spPr>
          <a:xfrm>
            <a:off x="457200" y="960120"/>
            <a:ext cx="1005840" cy="45720"/>
          </a:xfrm>
          <a:prstGeom prst="rect">
            <a:avLst/>
          </a:prstGeom>
          <a:solidFill>
            <a:srgbClr val="C2410C"/>
          </a:solidFill>
          <a:ln w="12700">
            <a:solidFill>
              <a:srgbClr val="C2410C"/>
            </a:solidFill>
            <a:prstDash val="solid"/>
          </a:ln>
        </p:spPr>
      </p:sp>
      <p:sp>
        <p:nvSpPr>
          <p:cNvPr id="4" name="Text 2"/>
          <p:cNvSpPr txBox="1"/>
          <p:nvPr/>
        </p:nvSpPr>
        <p:spPr>
          <a:xfrm>
            <a:off x="548640" y="1280160"/>
            <a:ext cx="8046720" cy="3108960"/>
          </a:xfrm>
          <a:prstGeom prst="rect">
            <a:avLst/>
          </a:prstGeom>
          <a:noFill/>
          <a:ln/>
        </p:spPr>
        <p:txBody>
          <a:bodyPr wrap="square" lIns="0" tIns="0" rIns="0" bIns="0" rtlCol="0" anchor="t"/>
          <a:lstStyle/>
          <a:p>
            <a:pPr marL="342900" indent="-342900">
              <a:spcAft>
                <a:spcPts val="900"/>
              </a:spcAft>
              <a:buSzPct val="100000"/>
              <a:buChar char="•"/>
            </a:pPr>
            <a:r>
              <a:rPr lang="en-US" sz="1500" dirty="0">
                <a:solidFill>
                  <a:srgbClr val="0F2A33"/>
                </a:solidFill>
                <a:latin typeface="Calibri" pitchFamily="34" charset="0"/>
                <a:ea typeface="Calibri" pitchFamily="34" charset="-122"/>
                <a:cs typeface="Calibri" pitchFamily="34" charset="-120"/>
              </a:rPr>
              <a:t>Dataset has only 400 records from a single source, so results may not generalize.</a:t>
            </a:r>
            <a:endParaRPr lang="en-US" sz="1500" dirty="0"/>
          </a:p>
          <a:p>
            <a:pPr marL="342900" indent="-342900">
              <a:spcAft>
                <a:spcPts val="900"/>
              </a:spcAft>
              <a:buSzPct val="100000"/>
              <a:buChar char="•"/>
            </a:pPr>
            <a:r>
              <a:rPr lang="en-US" sz="1500" dirty="0">
                <a:solidFill>
                  <a:srgbClr val="0F2A33"/>
                </a:solidFill>
                <a:latin typeface="Calibri" pitchFamily="34" charset="0"/>
                <a:ea typeface="Calibri" pitchFamily="34" charset="-122"/>
                <a:cs typeface="Calibri" pitchFamily="34" charset="-120"/>
              </a:rPr>
              <a:t>Creatinine and urea are close to the diagnostic test itself, risking leakage rather than true early prediction.</a:t>
            </a:r>
            <a:endParaRPr lang="en-US" sz="1500" dirty="0"/>
          </a:p>
          <a:p>
            <a:pPr marL="342900" indent="-342900">
              <a:spcAft>
                <a:spcPts val="900"/>
              </a:spcAft>
              <a:buSzPct val="100000"/>
              <a:buChar char="•"/>
            </a:pPr>
            <a:r>
              <a:rPr lang="en-US" sz="1500" dirty="0">
                <a:solidFill>
                  <a:srgbClr val="0F2A33"/>
                </a:solidFill>
                <a:latin typeface="Calibri" pitchFamily="34" charset="0"/>
                <a:ea typeface="Calibri" pitchFamily="34" charset="-122"/>
                <a:cs typeface="Calibri" pitchFamily="34" charset="-120"/>
              </a:rPr>
              <a:t>No external clinical validation has been performed.</a:t>
            </a:r>
            <a:endParaRPr lang="en-US" sz="1500" dirty="0"/>
          </a:p>
          <a:p>
            <a:pPr marL="342900" indent="-342900">
              <a:spcAft>
                <a:spcPts val="900"/>
              </a:spcAft>
              <a:buSzPct val="100000"/>
              <a:buChar char="•"/>
            </a:pPr>
            <a:r>
              <a:rPr lang="en-US" sz="1500" dirty="0">
                <a:solidFill>
                  <a:srgbClr val="0F2A33"/>
                </a:solidFill>
                <a:latin typeface="Calibri" pitchFamily="34" charset="0"/>
                <a:ea typeface="Calibri" pitchFamily="34" charset="-122"/>
                <a:cs typeface="Calibri" pitchFamily="34" charset="-120"/>
              </a:rPr>
              <a:t>The demo portal uses synthetic patients and simulated login, not a production-grade system.</a:t>
            </a:r>
            <a:endParaRPr lang="en-US" sz="1500" dirty="0"/>
          </a:p>
          <a:p>
            <a:pPr marL="342900" indent="-342900">
              <a:spcAft>
                <a:spcPts val="900"/>
              </a:spcAft>
              <a:buSzPct val="100000"/>
              <a:buChar char="•"/>
            </a:pPr>
            <a:r>
              <a:rPr lang="en-US" sz="1500" dirty="0">
                <a:solidFill>
                  <a:srgbClr val="0F2A33"/>
                </a:solidFill>
                <a:latin typeface="Calibri" pitchFamily="34" charset="0"/>
                <a:ea typeface="Calibri" pitchFamily="34" charset="-122"/>
                <a:cs typeface="Calibri" pitchFamily="34" charset="-120"/>
              </a:rPr>
              <a:t>Not a certified medical device; outputs must be reviewed by a clinician.</a:t>
            </a:r>
            <a:endParaRPr lang="en-US" sz="15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20040"/>
            <a:ext cx="8229600" cy="640080"/>
          </a:xfrm>
          <a:prstGeom prst="rect">
            <a:avLst/>
          </a:prstGeom>
          <a:noFill/>
          <a:ln/>
        </p:spPr>
        <p:txBody>
          <a:bodyPr wrap="square" lIns="0" tIns="0" rIns="0" bIns="0" rtlCol="0" anchor="t"/>
          <a:lstStyle/>
          <a:p>
            <a:pPr indent="0" marL="0">
              <a:buNone/>
            </a:pPr>
            <a:r>
              <a:rPr lang="en-US" sz="2800" b="1" dirty="0">
                <a:solidFill>
                  <a:srgbClr val="0F2A33"/>
                </a:solidFill>
                <a:latin typeface="Cambria" pitchFamily="34" charset="0"/>
                <a:ea typeface="Cambria" pitchFamily="34" charset="-122"/>
                <a:cs typeface="Cambria" pitchFamily="34" charset="-120"/>
              </a:rPr>
              <a:t>Future Scope</a:t>
            </a:r>
            <a:endParaRPr lang="en-US" sz="2800" dirty="0"/>
          </a:p>
        </p:txBody>
      </p:sp>
      <p:sp>
        <p:nvSpPr>
          <p:cNvPr id="3" name="Shape 1"/>
          <p:cNvSpPr/>
          <p:nvPr/>
        </p:nvSpPr>
        <p:spPr>
          <a:xfrm>
            <a:off x="457200" y="960120"/>
            <a:ext cx="1005840" cy="45720"/>
          </a:xfrm>
          <a:prstGeom prst="rect">
            <a:avLst/>
          </a:prstGeom>
          <a:solidFill>
            <a:srgbClr val="C2410C"/>
          </a:solidFill>
          <a:ln w="12700">
            <a:solidFill>
              <a:srgbClr val="C2410C"/>
            </a:solidFill>
            <a:prstDash val="solid"/>
          </a:ln>
        </p:spPr>
      </p:sp>
      <p:sp>
        <p:nvSpPr>
          <p:cNvPr id="4" name="Text 2"/>
          <p:cNvSpPr txBox="1"/>
          <p:nvPr/>
        </p:nvSpPr>
        <p:spPr>
          <a:xfrm>
            <a:off x="548640" y="1280160"/>
            <a:ext cx="8046720" cy="3108960"/>
          </a:xfrm>
          <a:prstGeom prst="rect">
            <a:avLst/>
          </a:prstGeom>
          <a:noFill/>
          <a:ln/>
        </p:spPr>
        <p:txBody>
          <a:bodyPr wrap="square" lIns="0" tIns="0" rIns="0" bIns="0" rtlCol="0" anchor="t"/>
          <a:lstStyle/>
          <a:p>
            <a:pPr marL="342900" indent="-342900">
              <a:spcAft>
                <a:spcPts val="900"/>
              </a:spcAft>
              <a:buSzPct val="100000"/>
              <a:buChar char="•"/>
            </a:pPr>
            <a:r>
              <a:rPr lang="en-US" sz="1600" dirty="0">
                <a:solidFill>
                  <a:srgbClr val="0F2A33"/>
                </a:solidFill>
                <a:latin typeface="Calibri" pitchFamily="34" charset="0"/>
                <a:ea typeface="Calibri" pitchFamily="34" charset="-122"/>
                <a:cs typeface="Calibri" pitchFamily="34" charset="-120"/>
              </a:rPr>
              <a:t>Train and validate on larger, multi-hospital datasets.</a:t>
            </a:r>
            <a:endParaRPr lang="en-US" sz="1600" dirty="0"/>
          </a:p>
          <a:p>
            <a:pPr marL="342900" indent="-342900">
              <a:spcAft>
                <a:spcPts val="900"/>
              </a:spcAft>
              <a:buSzPct val="100000"/>
              <a:buChar char="•"/>
            </a:pPr>
            <a:r>
              <a:rPr lang="en-US" sz="1600" dirty="0">
                <a:solidFill>
                  <a:srgbClr val="0F2A33"/>
                </a:solidFill>
                <a:latin typeface="Calibri" pitchFamily="34" charset="0"/>
                <a:ea typeface="Calibri" pitchFamily="34" charset="-122"/>
                <a:cs typeface="Calibri" pitchFamily="34" charset="-120"/>
              </a:rPr>
              <a:t>Add SHAP-based explanations for each individual prediction.</a:t>
            </a:r>
            <a:endParaRPr lang="en-US" sz="1600" dirty="0"/>
          </a:p>
          <a:p>
            <a:pPr marL="342900" indent="-342900">
              <a:spcAft>
                <a:spcPts val="900"/>
              </a:spcAft>
              <a:buSzPct val="100000"/>
              <a:buChar char="•"/>
            </a:pPr>
            <a:r>
              <a:rPr lang="en-US" sz="1600" dirty="0">
                <a:solidFill>
                  <a:srgbClr val="0F2A33"/>
                </a:solidFill>
                <a:latin typeface="Calibri" pitchFamily="34" charset="0"/>
                <a:ea typeface="Calibri" pitchFamily="34" charset="-122"/>
                <a:cs typeface="Calibri" pitchFamily="34" charset="-120"/>
              </a:rPr>
              <a:t>Deploy the API to the cloud with proper authentication and encryption.</a:t>
            </a:r>
            <a:endParaRPr lang="en-US" sz="1600" dirty="0"/>
          </a:p>
          <a:p>
            <a:pPr marL="342900" indent="-342900">
              <a:spcAft>
                <a:spcPts val="900"/>
              </a:spcAft>
              <a:buSzPct val="100000"/>
              <a:buChar char="•"/>
            </a:pPr>
            <a:r>
              <a:rPr lang="en-US" sz="1600" dirty="0">
                <a:solidFill>
                  <a:srgbClr val="0F2A33"/>
                </a:solidFill>
                <a:latin typeface="Calibri" pitchFamily="34" charset="0"/>
                <a:ea typeface="Calibri" pitchFamily="34" charset="-122"/>
                <a:cs typeface="Calibri" pitchFamily="34" charset="-120"/>
              </a:rPr>
              <a:t>Build a mobile app version for use in the field.</a:t>
            </a:r>
            <a:endParaRPr lang="en-US" sz="1600" dirty="0"/>
          </a:p>
          <a:p>
            <a:pPr marL="342900" indent="-342900">
              <a:spcAft>
                <a:spcPts val="900"/>
              </a:spcAft>
              <a:buSzPct val="100000"/>
              <a:buChar char="•"/>
            </a:pPr>
            <a:r>
              <a:rPr lang="en-US" sz="1600" dirty="0">
                <a:solidFill>
                  <a:srgbClr val="0F2A33"/>
                </a:solidFill>
                <a:latin typeface="Calibri" pitchFamily="34" charset="0"/>
                <a:ea typeface="Calibri" pitchFamily="34" charset="-122"/>
                <a:cs typeface="Calibri" pitchFamily="34" charset="-120"/>
              </a:rPr>
              <a:t>Integrate with hospital EHR systems for automatic data entry.</a:t>
            </a:r>
            <a:endParaRPr lang="en-US" sz="16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0F2A33"/>
        </a:solidFill>
      </p:bgPr>
    </p:bg>
    <p:spTree>
      <p:nvGrpSpPr>
        <p:cNvPr id="1" name=""/>
        <p:cNvGrpSpPr/>
        <p:nvPr/>
      </p:nvGrpSpPr>
      <p:grpSpPr>
        <a:xfrm>
          <a:off x="0" y="0"/>
          <a:ext cx="0" cy="0"/>
          <a:chOff x="0" y="0"/>
          <a:chExt cx="0" cy="0"/>
        </a:xfrm>
      </p:grpSpPr>
      <p:sp>
        <p:nvSpPr>
          <p:cNvPr id="2" name="Shape 0"/>
          <p:cNvSpPr/>
          <p:nvPr/>
        </p:nvSpPr>
        <p:spPr>
          <a:xfrm>
            <a:off x="7132320" y="-1280160"/>
            <a:ext cx="3291840" cy="3291840"/>
          </a:xfrm>
          <a:prstGeom prst="ellipse">
            <a:avLst/>
          </a:prstGeom>
          <a:solidFill>
            <a:srgbClr val="0D6B73">
              <a:alpha val="55000"/>
            </a:srgbClr>
          </a:solidFill>
          <a:ln w="12700">
            <a:solidFill>
              <a:srgbClr val="0D6B73">
                <a:alpha val="0"/>
              </a:srgbClr>
            </a:solidFill>
            <a:prstDash val="solid"/>
          </a:ln>
        </p:spPr>
      </p:sp>
      <p:sp>
        <p:nvSpPr>
          <p:cNvPr id="3" name="Text 1"/>
          <p:cNvSpPr txBox="1"/>
          <p:nvPr/>
        </p:nvSpPr>
        <p:spPr>
          <a:xfrm>
            <a:off x="457200" y="320040"/>
            <a:ext cx="8229600" cy="640080"/>
          </a:xfrm>
          <a:prstGeom prst="rect">
            <a:avLst/>
          </a:prstGeom>
          <a:noFill/>
          <a:ln/>
        </p:spPr>
        <p:txBody>
          <a:bodyPr wrap="square" lIns="0" tIns="0" rIns="0" bIns="0" rtlCol="0" anchor="t"/>
          <a:lstStyle/>
          <a:p>
            <a:pPr indent="0" marL="0">
              <a:buNone/>
            </a:pPr>
            <a:r>
              <a:rPr lang="en-US" sz="2800" b="1" dirty="0">
                <a:solidFill>
                  <a:srgbClr val="FFFFFF"/>
                </a:solidFill>
                <a:latin typeface="Cambria" pitchFamily="34" charset="0"/>
                <a:ea typeface="Cambria" pitchFamily="34" charset="-122"/>
                <a:cs typeface="Cambria" pitchFamily="34" charset="-120"/>
              </a:rPr>
              <a:t>Conclusion</a:t>
            </a:r>
            <a:endParaRPr lang="en-US" sz="2800" dirty="0"/>
          </a:p>
        </p:txBody>
      </p:sp>
      <p:sp>
        <p:nvSpPr>
          <p:cNvPr id="4" name="Shape 2"/>
          <p:cNvSpPr/>
          <p:nvPr/>
        </p:nvSpPr>
        <p:spPr>
          <a:xfrm>
            <a:off x="457200" y="960120"/>
            <a:ext cx="1005840" cy="45720"/>
          </a:xfrm>
          <a:prstGeom prst="rect">
            <a:avLst/>
          </a:prstGeom>
          <a:solidFill>
            <a:srgbClr val="C2410C"/>
          </a:solidFill>
          <a:ln w="12700">
            <a:solidFill>
              <a:srgbClr val="C2410C"/>
            </a:solidFill>
            <a:prstDash val="solid"/>
          </a:ln>
        </p:spPr>
      </p:sp>
      <p:sp>
        <p:nvSpPr>
          <p:cNvPr id="5" name="Text 3"/>
          <p:cNvSpPr txBox="1"/>
          <p:nvPr/>
        </p:nvSpPr>
        <p:spPr>
          <a:xfrm>
            <a:off x="548640" y="1463040"/>
            <a:ext cx="3931920" cy="2743200"/>
          </a:xfrm>
          <a:prstGeom prst="rect">
            <a:avLst/>
          </a:prstGeom>
          <a:noFill/>
          <a:ln/>
        </p:spPr>
        <p:txBody>
          <a:bodyPr wrap="square" lIns="0" tIns="0" rIns="0" bIns="0" rtlCol="0" anchor="t"/>
          <a:lstStyle/>
          <a:p>
            <a:pPr marL="342900" indent="-342900">
              <a:spcAft>
                <a:spcPts val="900"/>
              </a:spcAft>
              <a:buSzPct val="100000"/>
              <a:buChar char="•"/>
            </a:pPr>
            <a:r>
              <a:rPr lang="en-US" sz="1500" dirty="0">
                <a:solidFill>
                  <a:srgbClr val="FFFFFF"/>
                </a:solidFill>
                <a:latin typeface="Calibri" pitchFamily="34" charset="0"/>
                <a:ea typeface="Calibri" pitchFamily="34" charset="-122"/>
                <a:cs typeface="Calibri" pitchFamily="34" charset="-120"/>
              </a:rPr>
              <a:t>Built a working pipeline that screens CKD risk from routine lab values.</a:t>
            </a:r>
            <a:endParaRPr lang="en-US" sz="1500" dirty="0"/>
          </a:p>
          <a:p>
            <a:pPr marL="342900" indent="-342900">
              <a:spcAft>
                <a:spcPts val="900"/>
              </a:spcAft>
              <a:buSzPct val="100000"/>
              <a:buChar char="•"/>
            </a:pPr>
            <a:r>
              <a:rPr lang="en-US" sz="1500" dirty="0">
                <a:solidFill>
                  <a:srgbClr val="FFFFFF"/>
                </a:solidFill>
                <a:latin typeface="Calibri" pitchFamily="34" charset="0"/>
                <a:ea typeface="Calibri" pitchFamily="34" charset="-122"/>
                <a:cs typeface="Calibri" pitchFamily="34" charset="-120"/>
              </a:rPr>
              <a:t>Trained and compared two gradient-boosted tree models, XGBoost and LightGBM.</a:t>
            </a:r>
            <a:endParaRPr lang="en-US" sz="1500" dirty="0"/>
          </a:p>
          <a:p>
            <a:pPr marL="342900" indent="-342900">
              <a:spcAft>
                <a:spcPts val="900"/>
              </a:spcAft>
              <a:buSzPct val="100000"/>
              <a:buChar char="•"/>
            </a:pPr>
            <a:r>
              <a:rPr lang="en-US" sz="1500" dirty="0">
                <a:solidFill>
                  <a:srgbClr val="FFFFFF"/>
                </a:solidFill>
                <a:latin typeface="Calibri" pitchFamily="34" charset="0"/>
                <a:ea typeface="Calibri" pitchFamily="34" charset="-122"/>
                <a:cs typeface="Calibri" pitchFamily="34" charset="-120"/>
              </a:rPr>
              <a:t>Delivered the result through an accessible clinician-facing web portal.</a:t>
            </a:r>
            <a:endParaRPr lang="en-US" sz="1500" dirty="0"/>
          </a:p>
        </p:txBody>
      </p:sp>
      <p:sp>
        <p:nvSpPr>
          <p:cNvPr id="6" name="Shape 4"/>
          <p:cNvSpPr/>
          <p:nvPr/>
        </p:nvSpPr>
        <p:spPr>
          <a:xfrm>
            <a:off x="4754880" y="1463040"/>
            <a:ext cx="3931920" cy="2743200"/>
          </a:xfrm>
          <a:prstGeom prst="roundRect">
            <a:avLst>
              <a:gd name="adj" fmla="val 3333"/>
            </a:avLst>
          </a:prstGeom>
          <a:solidFill>
            <a:srgbClr val="0D6B73"/>
          </a:solidFill>
          <a:ln w="12700">
            <a:solidFill>
              <a:srgbClr val="0D6B73"/>
            </a:solidFill>
            <a:prstDash val="solid"/>
          </a:ln>
        </p:spPr>
      </p:sp>
      <p:sp>
        <p:nvSpPr>
          <p:cNvPr id="7" name="Text 5"/>
          <p:cNvSpPr txBox="1"/>
          <p:nvPr/>
        </p:nvSpPr>
        <p:spPr>
          <a:xfrm>
            <a:off x="5029200" y="1645920"/>
            <a:ext cx="3383280" cy="365760"/>
          </a:xfrm>
          <a:prstGeom prst="rect">
            <a:avLst/>
          </a:prstGeom>
          <a:noFill/>
          <a:ln/>
        </p:spPr>
        <p:txBody>
          <a:bodyPr wrap="square" lIns="0" tIns="0" rIns="0" bIns="0" rtlCol="0" anchor="t"/>
          <a:lstStyle/>
          <a:p>
            <a:pPr indent="0" marL="0">
              <a:buNone/>
            </a:pPr>
            <a:r>
              <a:rPr lang="en-US" sz="1800" b="1" dirty="0">
                <a:solidFill>
                  <a:srgbClr val="FFFFFF"/>
                </a:solidFill>
                <a:latin typeface="Cambria" pitchFamily="34" charset="0"/>
                <a:ea typeface="Cambria" pitchFamily="34" charset="-122"/>
                <a:cs typeface="Cambria" pitchFamily="34" charset="-120"/>
              </a:rPr>
              <a:t>Key outcome</a:t>
            </a:r>
            <a:endParaRPr lang="en-US" sz="1800" dirty="0"/>
          </a:p>
        </p:txBody>
      </p:sp>
      <p:sp>
        <p:nvSpPr>
          <p:cNvPr id="8" name="Text 6"/>
          <p:cNvSpPr txBox="1"/>
          <p:nvPr/>
        </p:nvSpPr>
        <p:spPr>
          <a:xfrm>
            <a:off x="5029200" y="2103120"/>
            <a:ext cx="3383280" cy="1920240"/>
          </a:xfrm>
          <a:prstGeom prst="rect">
            <a:avLst/>
          </a:prstGeom>
          <a:noFill/>
          <a:ln/>
        </p:spPr>
        <p:txBody>
          <a:bodyPr wrap="square" lIns="0" tIns="0" rIns="0" bIns="0" rtlCol="0" anchor="t"/>
          <a:lstStyle/>
          <a:p>
            <a:pPr indent="0" marL="0">
              <a:buNone/>
            </a:pPr>
            <a:r>
              <a:rPr lang="en-US" sz="1350" dirty="0">
                <a:solidFill>
                  <a:srgbClr val="FFFFFF"/>
                </a:solidFill>
                <a:latin typeface="Calibri" pitchFamily="34" charset="0"/>
                <a:ea typeface="Calibri" pitchFamily="34" charset="-122"/>
                <a:cs typeface="Calibri" pitchFamily="34" charset="-120"/>
              </a:rPr>
              <a:t>A reproducible, two-model approach to early CKD screening that is simple enough for non-specialist use, with a clear path to clinical validation.</a:t>
            </a:r>
            <a:endParaRPr lang="en-US" sz="13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0F2A33"/>
        </a:solidFill>
      </p:bgPr>
    </p:bg>
    <p:spTree>
      <p:nvGrpSpPr>
        <p:cNvPr id="1" name=""/>
        <p:cNvGrpSpPr/>
        <p:nvPr/>
      </p:nvGrpSpPr>
      <p:grpSpPr>
        <a:xfrm>
          <a:off x="0" y="0"/>
          <a:ext cx="0" cy="0"/>
          <a:chOff x="0" y="0"/>
          <a:chExt cx="0" cy="0"/>
        </a:xfrm>
      </p:grpSpPr>
      <p:sp>
        <p:nvSpPr>
          <p:cNvPr id="2" name="Shape 0"/>
          <p:cNvSpPr/>
          <p:nvPr/>
        </p:nvSpPr>
        <p:spPr>
          <a:xfrm>
            <a:off x="6035040" y="-1097280"/>
            <a:ext cx="4572000" cy="4572000"/>
          </a:xfrm>
          <a:prstGeom prst="ellipse">
            <a:avLst/>
          </a:prstGeom>
          <a:solidFill>
            <a:srgbClr val="0D6B73">
              <a:alpha val="65000"/>
            </a:srgbClr>
          </a:solidFill>
          <a:ln w="12700">
            <a:solidFill>
              <a:srgbClr val="0D6B73">
                <a:alpha val="0"/>
              </a:srgbClr>
            </a:solidFill>
            <a:prstDash val="solid"/>
          </a:ln>
        </p:spPr>
      </p:sp>
      <p:sp>
        <p:nvSpPr>
          <p:cNvPr id="3" name="Shape 1"/>
          <p:cNvSpPr/>
          <p:nvPr/>
        </p:nvSpPr>
        <p:spPr>
          <a:xfrm>
            <a:off x="7132320" y="2194560"/>
            <a:ext cx="3291840" cy="3291840"/>
          </a:xfrm>
          <a:prstGeom prst="ellipse">
            <a:avLst/>
          </a:prstGeom>
          <a:solidFill>
            <a:srgbClr val="4FB3BD">
              <a:alpha val="40000"/>
            </a:srgbClr>
          </a:solidFill>
          <a:ln w="12700">
            <a:solidFill>
              <a:srgbClr val="4FB3BD">
                <a:alpha val="0"/>
              </a:srgbClr>
            </a:solidFill>
            <a:prstDash val="solid"/>
          </a:ln>
        </p:spPr>
      </p:sp>
      <p:sp>
        <p:nvSpPr>
          <p:cNvPr id="4" name="Text 2"/>
          <p:cNvSpPr txBox="1"/>
          <p:nvPr/>
        </p:nvSpPr>
        <p:spPr>
          <a:xfrm>
            <a:off x="548640" y="1554480"/>
            <a:ext cx="5486400" cy="1097280"/>
          </a:xfrm>
          <a:prstGeom prst="rect">
            <a:avLst/>
          </a:prstGeom>
          <a:noFill/>
          <a:ln/>
        </p:spPr>
        <p:txBody>
          <a:bodyPr wrap="square" lIns="0" tIns="0" rIns="0" bIns="0" rtlCol="0" anchor="t"/>
          <a:lstStyle/>
          <a:p>
            <a:pPr indent="0" marL="0">
              <a:buNone/>
            </a:pPr>
            <a:r>
              <a:rPr lang="en-US" sz="5400" b="1" dirty="0">
                <a:solidFill>
                  <a:srgbClr val="FFFFFF"/>
                </a:solidFill>
                <a:latin typeface="Cambria" pitchFamily="34" charset="0"/>
                <a:ea typeface="Cambria" pitchFamily="34" charset="-122"/>
                <a:cs typeface="Cambria" pitchFamily="34" charset="-120"/>
              </a:rPr>
              <a:t>Thank you</a:t>
            </a:r>
            <a:endParaRPr lang="en-US" sz="5400" dirty="0"/>
          </a:p>
        </p:txBody>
      </p:sp>
      <p:sp>
        <p:nvSpPr>
          <p:cNvPr id="5" name="Text 3"/>
          <p:cNvSpPr txBox="1"/>
          <p:nvPr/>
        </p:nvSpPr>
        <p:spPr>
          <a:xfrm>
            <a:off x="548640" y="2834640"/>
            <a:ext cx="5486400" cy="457200"/>
          </a:xfrm>
          <a:prstGeom prst="rect">
            <a:avLst/>
          </a:prstGeom>
          <a:noFill/>
          <a:ln/>
        </p:spPr>
        <p:txBody>
          <a:bodyPr wrap="square" lIns="0" tIns="0" rIns="0" bIns="0" rtlCol="0" anchor="t"/>
          <a:lstStyle/>
          <a:p>
            <a:pPr indent="0" marL="0">
              <a:buNone/>
            </a:pPr>
            <a:r>
              <a:rPr lang="en-US" sz="2000" dirty="0">
                <a:solidFill>
                  <a:srgbClr val="9FD3D8"/>
                </a:solidFill>
                <a:latin typeface="Calibri" pitchFamily="34" charset="0"/>
                <a:ea typeface="Calibri" pitchFamily="34" charset="-122"/>
                <a:cs typeface="Calibri" pitchFamily="34" charset="-120"/>
              </a:rPr>
              <a:t>Questions are welcome</a:t>
            </a:r>
            <a:endParaRPr lang="en-US" sz="2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21</Slides>
  <Notes>21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21</vt:i4>
      </vt:variant>
    </vt:vector>
  </HeadingPairs>
  <TitlesOfParts>
    <vt:vector size="2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2026-10-05T03:12:33Z</dcterms:created>
  <dcterms:modified xsi:type="dcterms:W3CDTF">2026-10-05T03:12:33Z</dcterms:modified>
</cp:coreProperties>
</file>